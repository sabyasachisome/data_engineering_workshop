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51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90" r:id="rId32"/>
    <p:sldId id="287" r:id="rId33"/>
    <p:sldId id="288" r:id="rId34"/>
    <p:sldId id="289" r:id="rId35"/>
    <p:sldId id="291" r:id="rId36"/>
    <p:sldId id="295" r:id="rId37"/>
    <p:sldId id="292" r:id="rId38"/>
    <p:sldId id="293" r:id="rId39"/>
    <p:sldId id="294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51"/>
    <p:restoredTop sz="94658"/>
  </p:normalViewPr>
  <p:slideViewPr>
    <p:cSldViewPr snapToGrid="0">
      <p:cViewPr varScale="1">
        <p:scale>
          <a:sx n="120" d="100"/>
          <a:sy n="120" d="100"/>
        </p:scale>
        <p:origin x="87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5218032"/>
            <a:ext cx="11460480" cy="78638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0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5972629"/>
            <a:ext cx="11460480" cy="480373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67B50E4-2343-4B20-80BE-1605C97DFB16}" type="datetime1">
              <a:rPr lang="en-US" smtClean="0"/>
              <a:t>4/20/26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4700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2DE44A-7CD8-4860-9BDC-2BE4C911F6D0}" type="datetime1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8519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8896" y="1129554"/>
            <a:ext cx="4361688" cy="347523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54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68897" y="4731335"/>
            <a:ext cx="4206240" cy="1184585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20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68895" y="6453002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E38EAEAF-D16E-446F-97F9-D23FB245CB45}" type="datetime1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30607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411480"/>
            <a:ext cx="4654296" cy="373989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2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4873752"/>
            <a:ext cx="4206240" cy="1380744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596128" y="0"/>
            <a:ext cx="65958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7160" y="6453002"/>
            <a:ext cx="1951777" cy="365125"/>
          </a:xfrm>
        </p:spPr>
        <p:txBody>
          <a:bodyPr/>
          <a:lstStyle/>
          <a:p>
            <a:fld id="{782E7A21-5BA8-4C4C-9705-3A1EA342AD8A}" type="datetime1">
              <a:rPr lang="en-US" smtClean="0"/>
              <a:t>4/20/26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37" y="6453002"/>
            <a:ext cx="280540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4844578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00901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548642"/>
            <a:ext cx="7478991" cy="3635797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70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73553"/>
            <a:ext cx="6655522" cy="154533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2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BE73BE-5F1F-40EF-8F67-E3F24D65884D}" type="datetime1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9824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008" y="854239"/>
            <a:ext cx="7876287" cy="3592629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72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8368" y="4617138"/>
            <a:ext cx="7375466" cy="101498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8EF1-668D-4AD0-8652-1F3B3622EDC2}" type="datetime1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8194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95609F-9B5B-4E29-8DB1-457A85E01A27}" type="datetime1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7127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4320" y="1801368"/>
            <a:ext cx="7772400" cy="4572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74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A0DE37-B9D6-425C-B79B-6C6DFFBD0DA2}" type="datetime1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329403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64108"/>
            <a:ext cx="8467558" cy="155448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2333860"/>
            <a:ext cx="8467558" cy="3689909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400"/>
            </a:lvl1pPr>
            <a:lvl2pPr marL="685800" indent="-457200">
              <a:buFont typeface="+mj-lt"/>
              <a:buAutoNum type="arabicPeriod"/>
              <a:defRPr sz="2000"/>
            </a:lvl2pPr>
            <a:lvl3pPr marL="800100" indent="-342900">
              <a:buFont typeface="+mj-lt"/>
              <a:buAutoNum type="arabicPeriod"/>
              <a:defRPr sz="1800"/>
            </a:lvl3pPr>
            <a:lvl4pPr marL="1028700" indent="-342900">
              <a:buFont typeface="+mj-lt"/>
              <a:buAutoNum type="arabicPeriod"/>
              <a:defRPr sz="16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5B0EE-4023-4E3C-8875-10AA631453CF}" type="datetime1">
              <a:rPr lang="en-US" smtClean="0"/>
              <a:t>4/20/26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7346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0" y="1161288"/>
            <a:ext cx="4663440" cy="1554480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609904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58000" y="2825496"/>
            <a:ext cx="4663440" cy="3337560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571500" indent="-342900">
              <a:buFont typeface="+mj-lt"/>
              <a:buAutoNum type="arabicPeriod"/>
              <a:defRPr sz="1800"/>
            </a:lvl2pPr>
            <a:lvl3pPr marL="800100" indent="-342900">
              <a:buFont typeface="+mj-lt"/>
              <a:buAutoNum type="arabicPeriod"/>
              <a:defRPr sz="1600"/>
            </a:lvl3pPr>
            <a:lvl4pPr marL="1028700" indent="-342900"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57999" y="6453002"/>
            <a:ext cx="1996689" cy="365125"/>
          </a:xfrm>
        </p:spPr>
        <p:txBody>
          <a:bodyPr/>
          <a:lstStyle/>
          <a:p>
            <a:fld id="{CE6CA204-B091-40ED-8158-331EE628B522}" type="datetime1">
              <a:rPr lang="en-US" smtClean="0"/>
              <a:t>4/20/26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85301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385975"/>
            <a:ext cx="4325112" cy="2454796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92F09-9D88-4105-92F6-7298804EAA90}" type="datetime1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3526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7" y="2258568"/>
            <a:ext cx="3813048" cy="355701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44F96-061D-4D71-97A2-2371A43FDE7C}" type="datetime1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50823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1537853"/>
            <a:ext cx="4145582" cy="4638825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FE133-02A7-439F-9131-2680F754099D}" type="datetime1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13114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877456"/>
            <a:ext cx="4142232" cy="4940661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1BF7DD-C7D0-4333-B18D-CCAF5427F9DD}" type="datetime1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7139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3" y="548639"/>
            <a:ext cx="3494314" cy="5719639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549274"/>
            <a:ext cx="7315200" cy="5806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15979-091A-4302-A385-56FC1CE52E32}" type="datetime1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3085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38937" y="548640"/>
            <a:ext cx="6093225" cy="1143000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79388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38937" y="1828800"/>
            <a:ext cx="6071616" cy="44897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538937" y="6453002"/>
            <a:ext cx="3337584" cy="365125"/>
          </a:xfrm>
        </p:spPr>
        <p:txBody>
          <a:bodyPr/>
          <a:lstStyle/>
          <a:p>
            <a:fld id="{7836D543-476D-434F-B209-1A114B2E3F04}" type="datetime1">
              <a:rPr lang="en-US" smtClean="0"/>
              <a:t>4/20/26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47889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6135624" cy="1143000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4" y="1828800"/>
            <a:ext cx="6135624" cy="44897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400544" y="0"/>
            <a:ext cx="479145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83DD0F20-7689-42E6-8664-6AA00B79F132}" type="datetime1">
              <a:rPr lang="en-US" smtClean="0"/>
              <a:t>4/20/26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6453002"/>
            <a:ext cx="280540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706232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88502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5736" y="320040"/>
            <a:ext cx="6858000" cy="93268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45736" y="1380744"/>
            <a:ext cx="6858000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745736" y="6453002"/>
            <a:ext cx="3494314" cy="365125"/>
          </a:xfrm>
        </p:spPr>
        <p:txBody>
          <a:bodyPr/>
          <a:lstStyle/>
          <a:p>
            <a:fld id="{30F2F577-5BDA-4749-9F3F-0D340DC0D6A8}" type="datetime1">
              <a:rPr lang="en-US" smtClean="0"/>
              <a:t>4/20/26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24706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320040"/>
            <a:ext cx="6858000" cy="93268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1380744"/>
            <a:ext cx="6858000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AC9378AD-A6D7-4162-BB5C-47C49B2E145B}" type="datetime1">
              <a:rPr lang="en-US" smtClean="0"/>
              <a:t>4/20/26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6453002"/>
            <a:ext cx="280540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453002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436010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3808" y="584339"/>
            <a:ext cx="4361688" cy="15270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61150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53745" y="2212975"/>
            <a:ext cx="4362450" cy="40957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3745" y="6453002"/>
            <a:ext cx="1622776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67B65D3-547A-48A8-9F1F-13ED0B55ACC6}" type="datetime1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61302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83413"/>
            <a:ext cx="4361688" cy="15270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2212975"/>
            <a:ext cx="4360863" cy="40957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2031073" cy="365125"/>
          </a:xfrm>
        </p:spPr>
        <p:txBody>
          <a:bodyPr/>
          <a:lstStyle/>
          <a:p>
            <a:fld id="{76A7CFE7-E645-4439-AA6B-DA8CF856D63E}" type="datetime1">
              <a:rPr lang="en-US" smtClean="0"/>
              <a:t>4/20/26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745480" y="0"/>
            <a:ext cx="64465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18775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4553" y="320040"/>
            <a:ext cx="4522936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0"/>
            <a:ext cx="649224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04888" y="1380744"/>
            <a:ext cx="4512601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04491" y="6453002"/>
            <a:ext cx="1772029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E8B2C0DB-994F-48B0-91F4-5F06C3B86E32}" type="datetime1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932800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20040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4" y="1380744"/>
            <a:ext cx="4572000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2031073" cy="365125"/>
          </a:xfrm>
        </p:spPr>
        <p:txBody>
          <a:bodyPr/>
          <a:lstStyle/>
          <a:p>
            <a:fld id="{D3F6A089-BE3E-4BB0-98EE-FDF712FF3613}" type="datetime1">
              <a:rPr lang="en-US" smtClean="0"/>
              <a:t>4/20/26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917720" y="0"/>
            <a:ext cx="627427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11912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2663" y="583413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12790" y="2212975"/>
            <a:ext cx="3401568" cy="40957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212663" y="6453002"/>
            <a:ext cx="922372" cy="365125"/>
          </a:xfrm>
        </p:spPr>
        <p:txBody>
          <a:bodyPr/>
          <a:lstStyle/>
          <a:p>
            <a:fld id="{AC101298-AE91-4071-9C72-5A98117ABE14}" type="datetime1">
              <a:rPr lang="en-US" smtClean="0"/>
              <a:t>4/20/26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9135035" y="6453002"/>
            <a:ext cx="2546891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92154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83413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2212975"/>
            <a:ext cx="3401568" cy="40957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53002"/>
            <a:ext cx="1067625" cy="365125"/>
          </a:xfrm>
        </p:spPr>
        <p:txBody>
          <a:bodyPr/>
          <a:lstStyle/>
          <a:p>
            <a:fld id="{EABE4333-790C-44CD-B503-F52418ED809A}" type="datetime1">
              <a:rPr lang="en-US" smtClean="0"/>
              <a:t>4/20/26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04785" y="6453002"/>
            <a:ext cx="280540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60426" y="6453002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308239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3102" y="1078992"/>
            <a:ext cx="3273552" cy="1942773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44096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43102" y="6453002"/>
            <a:ext cx="1003659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D2397CCD-8E49-4379-8DCB-9F17CAEDFC10}" type="datetime1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346761" y="6453002"/>
            <a:ext cx="233516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391473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01226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463513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6146F6-C62B-441B-BAD2-D550454B4D53}" type="datetime1">
              <a:rPr lang="en-US" smtClean="0"/>
              <a:t>4/20/26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5012267"/>
            <a:ext cx="6400800" cy="1390330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15686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4162318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83A68-D563-4FD5-B11F-54F8D5F1E37F}" type="datetime1">
              <a:rPr lang="en-US" smtClean="0"/>
              <a:t>4/20/26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4162318"/>
            <a:ext cx="7772400" cy="224028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400"/>
            </a:lvl4pPr>
            <a:lvl5pPr marL="1085850" indent="-171450"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74546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3" y="561425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307973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59778"/>
            <a:ext cx="3494314" cy="365125"/>
          </a:xfrm>
        </p:spPr>
        <p:txBody>
          <a:bodyPr/>
          <a:lstStyle/>
          <a:p>
            <a:fld id="{3148FABB-02FF-476F-AB37-BDD0E354E780}" type="datetime1">
              <a:rPr lang="en-US" smtClean="0"/>
              <a:t>4/20/26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561425"/>
            <a:ext cx="7772400" cy="2240280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Char char="•"/>
              <a:defRPr sz="1800"/>
            </a:lvl1pPr>
            <a:lvl2pPr marL="514350" indent="-285750">
              <a:buFont typeface="Arial" panose="020B0604020202020204" pitchFamily="34" charset="0"/>
              <a:buChar char="•"/>
              <a:defRPr sz="1600"/>
            </a:lvl2pPr>
            <a:lvl3pPr marL="742950" indent="-285750">
              <a:buFont typeface="Arial" panose="020B0604020202020204" pitchFamily="34" charset="0"/>
              <a:buChar char="•"/>
              <a:defRPr sz="1400"/>
            </a:lvl3pPr>
            <a:lvl4pPr marL="857250" indent="-171450">
              <a:buFont typeface="Arial" panose="020B0604020202020204" pitchFamily="34" charset="0"/>
              <a:buChar char="•"/>
              <a:defRPr sz="1400"/>
            </a:lvl4pPr>
            <a:lvl5pPr marL="1085850" indent="-171450">
              <a:buFont typeface="Arial" panose="020B0604020202020204" pitchFamily="34" charset="0"/>
              <a:buChar char="•"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1" y="59778"/>
            <a:ext cx="280540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2" y="5977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53454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603504"/>
            <a:ext cx="10972802" cy="970463"/>
          </a:xfrm>
        </p:spPr>
        <p:txBody>
          <a:bodyPr anchor="ctr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12645" y="1828800"/>
            <a:ext cx="6172200" cy="442569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27395" y="1828800"/>
            <a:ext cx="4251960" cy="442887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A428D3-736A-4038-886C-8BF662AA2745}" type="datetime1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00441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39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12648" y="2290890"/>
            <a:ext cx="4672584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549275"/>
            <a:ext cx="5585925" cy="57832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1DDEB-9B85-4E99-8A3D-ABE66C6280C3}" type="datetime1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50435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550217"/>
            <a:ext cx="3657603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31521" y="2295144"/>
            <a:ext cx="3490176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16500" y="549275"/>
            <a:ext cx="6561138" cy="57594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65DCA-443F-4667-9ED1-418507CE45A8}" type="datetime1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25048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944" y="4718304"/>
            <a:ext cx="5897880" cy="13533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lnSpc>
                <a:spcPct val="120000"/>
              </a:lnSpc>
              <a:defRPr lang="en-US" sz="2800" b="0" dirty="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9496" y="603503"/>
            <a:ext cx="10826496" cy="433425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lang="en-US" sz="23200" b="1" dirty="0">
                <a:solidFill>
                  <a:schemeClr val="accent1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1557D-4816-44D0-B6EE-6CAC6E30B54D}" type="datetime1">
              <a:rPr lang="en-US" smtClean="0"/>
              <a:t>4/20/26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06271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4809744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640079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3200" b="1">
                <a:solidFill>
                  <a:schemeClr val="accent1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F872E-5ED2-46B0-83A4-0C1AF0E0D91C}" type="datetime1">
              <a:rPr lang="en-US" smtClean="0"/>
              <a:t>4/20/26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9247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4B1ECB8-9E10-D2F3-E361-7D268551E2E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4809744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640079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32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18575-0C6E-47B4-936E-32183810D7BF}" type="datetime1">
              <a:rPr lang="en-US" smtClean="0"/>
              <a:t>4/20/26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50221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C29FB5-1C86-423F-AEAA-2683840666C3}" type="datetime1">
              <a:rPr lang="en-US" smtClean="0"/>
              <a:t>4/20/26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30936"/>
            <a:ext cx="8266176" cy="5605272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5400" b="1"/>
            </a:lvl1pPr>
            <a:lvl2pPr marL="228600" indent="0">
              <a:lnSpc>
                <a:spcPct val="100000"/>
              </a:lnSpc>
              <a:buNone/>
              <a:defRPr sz="4800" b="1"/>
            </a:lvl2pPr>
            <a:lvl3pPr marL="457200" indent="0">
              <a:lnSpc>
                <a:spcPct val="100000"/>
              </a:lnSpc>
              <a:buNone/>
              <a:defRPr sz="4400" b="1"/>
            </a:lvl3pPr>
            <a:lvl4pPr marL="685800" indent="0">
              <a:lnSpc>
                <a:spcPct val="100000"/>
              </a:lnSpc>
              <a:buNone/>
              <a:defRPr sz="4000" b="1"/>
            </a:lvl4pPr>
            <a:lvl5pPr marL="91440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0799201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CCB4E-88AF-46AC-B7C5-30308F179659}" type="datetime1">
              <a:rPr lang="en-US" smtClean="0"/>
              <a:t>4/20/26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929384"/>
            <a:ext cx="8266176" cy="414223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790318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915B6-CC2A-4462-A7E5-B3080DF8F97D}" type="datetime1">
              <a:rPr lang="en-US" smtClean="0"/>
              <a:t>4/20/26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548640"/>
            <a:ext cx="8266176" cy="5605272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5000" b="1"/>
            </a:lvl1pPr>
            <a:lvl2pPr marL="228600" indent="0">
              <a:lnSpc>
                <a:spcPct val="100000"/>
              </a:lnSpc>
              <a:buNone/>
              <a:defRPr sz="4400" b="1"/>
            </a:lvl2pPr>
            <a:lvl3pPr marL="457200" indent="0">
              <a:lnSpc>
                <a:spcPct val="100000"/>
              </a:lnSpc>
              <a:buNone/>
              <a:defRPr sz="4000" b="1"/>
            </a:lvl3pPr>
            <a:lvl4pPr marL="685800" indent="0">
              <a:lnSpc>
                <a:spcPct val="100000"/>
              </a:lnSpc>
              <a:buNone/>
              <a:defRPr sz="3600" b="1"/>
            </a:lvl4pPr>
            <a:lvl5pPr marL="91440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6240092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8" y="5431536"/>
            <a:ext cx="9021471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188720"/>
            <a:ext cx="9198864" cy="365760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188F7-A494-4EEB-A53D-2B97B1D4CD3C}" type="datetime1">
              <a:rPr lang="en-US" smtClean="0"/>
              <a:t>4/20/26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2286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6DECC02-1725-49EE-C93B-A4C2C4049458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349240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344168"/>
            <a:ext cx="9198864" cy="329184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406BC0-1562-42E5-89A2-925CA193C8A6}" type="datetime1">
              <a:rPr lang="en-US" smtClean="0"/>
              <a:t>4/20/26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914865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0041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200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F376A-778D-45CF-8340-DB03B2DA6A3E}" type="datetime1">
              <a:rPr lang="en-US" smtClean="0"/>
              <a:t>4/20/26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22776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2775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DFF5A-622E-43FE-9EE9-BAAB78AB2046}" type="datetime1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330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9600" y="2387600"/>
            <a:ext cx="5157788" cy="37639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0" y="2387600"/>
            <a:ext cx="5183188" cy="37639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5C09E-FF30-4AA0-A227-171955622259}" type="datetime1">
              <a:rPr lang="en-US" smtClean="0"/>
              <a:t>4/20/26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22903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B279FF-407B-4B41-9E69-DE66ED04A328}" type="datetime1">
              <a:rPr lang="en-US" smtClean="0"/>
              <a:t>4/20/26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288210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3E812-757D-4139-AF81-227C72D4B544}" type="datetime1">
              <a:rPr lang="en-US" smtClean="0"/>
              <a:t>4/20/26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37943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311121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5"/>
            <a:ext cx="6440258" cy="5755109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6A7E1-C424-43A5-938A-12DEC0A1D59D}" type="datetime1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517032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063319" y="557784"/>
            <a:ext cx="6519080" cy="577900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C4FC2-B89B-4919-A96B-662A3584681C}" type="datetime1">
              <a:rPr lang="en-US" smtClean="0"/>
              <a:t>4/20/26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4140669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6" y="1847088"/>
            <a:ext cx="10888473" cy="1133856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775" y="3594099"/>
            <a:ext cx="10890374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24BE51-D660-433D-AABA-154BE028E64E}" type="datetime1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4217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627318"/>
            <a:ext cx="8430767" cy="1842020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3622674"/>
            <a:ext cx="8430639" cy="127961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228600" indent="0">
              <a:buNone/>
              <a:defRPr sz="2000"/>
            </a:lvl2pPr>
            <a:lvl3pPr marL="457200" indent="0">
              <a:buNone/>
              <a:defRPr sz="1800"/>
            </a:lvl3pPr>
            <a:lvl4pPr marL="685800" indent="0">
              <a:buNone/>
              <a:defRPr sz="16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61F76E-6064-4431-B5C4-29A511725BCF}" type="datetime1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076292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5EE9E671-1C83-40F7-9D33-FE8AAC7F721F}" type="datetime1">
              <a:rPr lang="en-US" smtClean="0"/>
              <a:t>4/20/26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51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  <p:sldLayoutId id="2147483712" r:id="rId12"/>
    <p:sldLayoutId id="2147483713" r:id="rId13"/>
    <p:sldLayoutId id="2147483714" r:id="rId14"/>
    <p:sldLayoutId id="2147483715" r:id="rId15"/>
    <p:sldLayoutId id="2147483716" r:id="rId16"/>
    <p:sldLayoutId id="2147483717" r:id="rId17"/>
    <p:sldLayoutId id="2147483718" r:id="rId18"/>
    <p:sldLayoutId id="2147483719" r:id="rId19"/>
    <p:sldLayoutId id="2147483720" r:id="rId20"/>
    <p:sldLayoutId id="2147483721" r:id="rId21"/>
    <p:sldLayoutId id="2147483722" r:id="rId22"/>
    <p:sldLayoutId id="2147483723" r:id="rId23"/>
    <p:sldLayoutId id="2147483724" r:id="rId24"/>
    <p:sldLayoutId id="2147483725" r:id="rId25"/>
    <p:sldLayoutId id="2147483726" r:id="rId26"/>
    <p:sldLayoutId id="2147483727" r:id="rId27"/>
    <p:sldLayoutId id="2147483728" r:id="rId28"/>
    <p:sldLayoutId id="2147483729" r:id="rId29"/>
    <p:sldLayoutId id="2147483730" r:id="rId30"/>
    <p:sldLayoutId id="2147483731" r:id="rId31"/>
    <p:sldLayoutId id="2147483732" r:id="rId32"/>
    <p:sldLayoutId id="2147483733" r:id="rId33"/>
    <p:sldLayoutId id="2147483734" r:id="rId34"/>
    <p:sldLayoutId id="2147483735" r:id="rId35"/>
    <p:sldLayoutId id="2147483736" r:id="rId36"/>
    <p:sldLayoutId id="2147483749" r:id="rId37"/>
    <p:sldLayoutId id="2147483737" r:id="rId38"/>
    <p:sldLayoutId id="2147483738" r:id="rId39"/>
    <p:sldLayoutId id="2147483739" r:id="rId40"/>
    <p:sldLayoutId id="2147483740" r:id="rId41"/>
    <p:sldLayoutId id="2147483741" r:id="rId42"/>
    <p:sldLayoutId id="2147483742" r:id="rId43"/>
    <p:sldLayoutId id="2147483743" r:id="rId44"/>
    <p:sldLayoutId id="2147483744" r:id="rId45"/>
    <p:sldLayoutId id="2147483745" r:id="rId46"/>
    <p:sldLayoutId id="2147483746" r:id="rId47"/>
    <p:sldLayoutId id="2147483747" r:id="rId48"/>
    <p:sldLayoutId id="2147483748" r:id="rId49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mailto:ubuntu@3.81.26.116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us-east-1.console.aws.amazon.com/iam/home?region=us-east-1#/policies/details/arn%3Aaws%3Aiam%3A%3Aaws%3Apolicy%2FAmazonS3ReadOnlyAccess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DBB3DE-63C4-9181-FAA5-B63F0F8355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5218032"/>
            <a:ext cx="11460480" cy="786384"/>
          </a:xfrm>
        </p:spPr>
        <p:txBody>
          <a:bodyPr anchor="b">
            <a:normAutofit/>
          </a:bodyPr>
          <a:lstStyle/>
          <a:p>
            <a:r>
              <a:rPr lang="en-US" dirty="0"/>
              <a:t>Data Engineering using AWS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41EBD0-44A7-89A7-A619-95F5E537EC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5972629"/>
            <a:ext cx="11460480" cy="480373"/>
          </a:xfrm>
        </p:spPr>
        <p:txBody>
          <a:bodyPr>
            <a:normAutofit/>
          </a:bodyPr>
          <a:lstStyle/>
          <a:p>
            <a:r>
              <a:rPr lang="en-US" dirty="0"/>
              <a:t>Building Data Engineering Pipelines leveraging AWS Infrastructure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0F2A36D7-F0AD-9113-E8B2-54A4813CBEA1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rcRect t="19326" b="19326"/>
          <a:stretch>
            <a:fillRect/>
          </a:stretch>
        </p:blipFill>
        <p:spPr>
          <a:prstGeom prst="rect">
            <a:avLst/>
          </a:prstGeom>
          <a:blipFill dpi="0" rotWithShape="1">
            <a:blip r:embed="rId3">
              <a:alphaModFix amt="60000"/>
            </a:blip>
            <a:srcRect/>
            <a:stretch>
              <a:fillRect/>
            </a:stretch>
          </a:blipFill>
        </p:spPr>
      </p:pic>
    </p:spTree>
    <p:extLst>
      <p:ext uri="{BB962C8B-B14F-4D97-AF65-F5344CB8AC3E}">
        <p14:creationId xmlns:p14="http://schemas.microsoft.com/office/powerpoint/2010/main" val="292069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26B6F4-E54D-8DC0-AB3C-BBA7E6AAF1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the Infra ready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BAE0C8-2E3E-1FD7-9E1F-6080E90099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EC2-1 (SFTP) IP = &lt;EC2_1_IP&gt;</a:t>
            </a:r>
            <a:br>
              <a:rPr lang="en-IN" dirty="0"/>
            </a:br>
            <a:r>
              <a:rPr lang="en-IN" dirty="0"/>
              <a:t>EC2-2 (Ingest) IP = &lt;EC2_2_IP&gt;</a:t>
            </a:r>
            <a:br>
              <a:rPr lang="en-IN" dirty="0"/>
            </a:br>
            <a:r>
              <a:rPr lang="en-IN" dirty="0"/>
              <a:t>Key file = </a:t>
            </a:r>
            <a:r>
              <a:rPr lang="en-IN" dirty="0" err="1"/>
              <a:t>key.pem</a:t>
            </a:r>
            <a:br>
              <a:rPr lang="en-IN" dirty="0"/>
            </a:br>
            <a:r>
              <a:rPr lang="en-IN" dirty="0"/>
              <a:t>User (Ubuntu) = ubuntu</a:t>
            </a:r>
          </a:p>
          <a:p>
            <a:endParaRPr lang="en-IN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52584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35E61-F39A-E529-18B9-883DB9AAA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🧱 1️⃣ Local → EC2-1 (SFTP server)</a:t>
            </a:r>
            <a:br>
              <a:rPr lang="en-IN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0B03D2-B7C7-9547-FCBD-A66FF555EC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From your laptop:</a:t>
            </a:r>
          </a:p>
          <a:p>
            <a:r>
              <a:rPr lang="en-IN" dirty="0"/>
              <a:t>ssh -</a:t>
            </a:r>
            <a:r>
              <a:rPr lang="en-IN" dirty="0" err="1"/>
              <a:t>i</a:t>
            </a:r>
            <a:r>
              <a:rPr lang="en-IN" dirty="0"/>
              <a:t> </a:t>
            </a:r>
            <a:r>
              <a:rPr lang="en-IN" dirty="0" err="1"/>
              <a:t>key.pem</a:t>
            </a:r>
            <a:r>
              <a:rPr lang="en-IN" dirty="0"/>
              <a:t> ubuntu@&lt;EC2_1_IP&gt;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4339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1D5D3-EEC3-8075-AA90-2D1640895A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🧱 2️⃣ Local → EC2-2 (Ingestion server)</a:t>
            </a:r>
            <a:br>
              <a:rPr lang="en-IN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9FD773-3262-5A3B-3ADC-89A470E3AA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ssh -</a:t>
            </a:r>
            <a:r>
              <a:rPr lang="en-IN" dirty="0" err="1"/>
              <a:t>i</a:t>
            </a:r>
            <a:r>
              <a:rPr lang="en-IN" dirty="0"/>
              <a:t> </a:t>
            </a:r>
            <a:r>
              <a:rPr lang="en-IN" dirty="0" err="1"/>
              <a:t>key.pem</a:t>
            </a:r>
            <a:r>
              <a:rPr lang="en-IN" dirty="0"/>
              <a:t> ubuntu@&lt;EC2_2_IP&gt;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25271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29EA43-5404-5301-E334-ACD901957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🧱 3️⃣ Copy </a:t>
            </a:r>
            <a:r>
              <a:rPr lang="en-IN" dirty="0" err="1"/>
              <a:t>key.pem</a:t>
            </a:r>
            <a:r>
              <a:rPr lang="en-IN" dirty="0"/>
              <a:t> → EC2-2 (VERY IMPORTANT)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6C5C3-4B3D-1915-1E1D-01B12AA8BE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scp</a:t>
            </a:r>
            <a:r>
              <a:rPr lang="en-IN" dirty="0"/>
              <a:t> -</a:t>
            </a:r>
            <a:r>
              <a:rPr lang="en-IN" dirty="0" err="1"/>
              <a:t>i</a:t>
            </a:r>
            <a:r>
              <a:rPr lang="en-IN" dirty="0"/>
              <a:t> </a:t>
            </a:r>
            <a:r>
              <a:rPr lang="en-IN" dirty="0" err="1"/>
              <a:t>key.pem</a:t>
            </a:r>
            <a:r>
              <a:rPr lang="en-IN" dirty="0"/>
              <a:t> </a:t>
            </a:r>
            <a:r>
              <a:rPr lang="en-IN" dirty="0" err="1"/>
              <a:t>key.pem</a:t>
            </a:r>
            <a:r>
              <a:rPr lang="en-IN" dirty="0"/>
              <a:t> ubuntu@&lt;EC2_2_IP&gt;:/home/ubuntu/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2172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F96E57-DAE0-E20D-150C-FE715F2C5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🧱 4️⃣ Set permissions on EC2-2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A30A5B-4E01-E25A-CCE5-FDEBB1D74B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dirty="0"/>
              <a:t>SSH into EC2-2 first:</a:t>
            </a:r>
          </a:p>
          <a:p>
            <a:pPr marL="0" indent="0">
              <a:buNone/>
            </a:pPr>
            <a:r>
              <a:rPr lang="en-IN" dirty="0"/>
              <a:t>ssh -</a:t>
            </a:r>
            <a:r>
              <a:rPr lang="en-IN" dirty="0" err="1"/>
              <a:t>i</a:t>
            </a:r>
            <a:r>
              <a:rPr lang="en-IN" dirty="0"/>
              <a:t> </a:t>
            </a:r>
            <a:r>
              <a:rPr lang="en-IN" dirty="0" err="1"/>
              <a:t>key.pem</a:t>
            </a:r>
            <a:r>
              <a:rPr lang="en-IN" dirty="0"/>
              <a:t> ubuntu@&lt;EC2_2_IP&gt;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Then:</a:t>
            </a:r>
          </a:p>
          <a:p>
            <a:pPr marL="0" indent="0">
              <a:buNone/>
            </a:pPr>
            <a:r>
              <a:rPr lang="en-IN" dirty="0" err="1"/>
              <a:t>chmod</a:t>
            </a:r>
            <a:r>
              <a:rPr lang="en-IN" dirty="0"/>
              <a:t> 400 </a:t>
            </a:r>
            <a:r>
              <a:rPr lang="en-IN" dirty="0" err="1"/>
              <a:t>key.pem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38567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72FA2A-C0C7-C1F8-57E0-14680C4FE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🧱 5️⃣ EC2-2 → EC2-1 (SSH test)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7221A2-DF12-3A32-CE75-6333C53E5F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🧱 5️⃣ EC2-2 → EC2-1 (SSH test)</a:t>
            </a:r>
          </a:p>
          <a:p>
            <a:pPr marL="0" indent="0">
              <a:buNone/>
            </a:pPr>
            <a:r>
              <a:rPr lang="en-IN" dirty="0"/>
              <a:t>First time it will ask:</a:t>
            </a:r>
          </a:p>
          <a:p>
            <a:r>
              <a:rPr lang="en-IN" dirty="0"/>
              <a:t>Are you sure you want to continue connecting (yes/no)?</a:t>
            </a:r>
          </a:p>
          <a:p>
            <a:pPr marL="0" indent="0">
              <a:buNone/>
            </a:pPr>
            <a:r>
              <a:rPr lang="en-IN" dirty="0"/>
              <a:t>Type: yes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83559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A728E-5C68-D118-9177-9C7A8A90C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🧠 Best practice (recommended)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C38AA8-A17F-F490-BBF9-AC100062DE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ssh -</a:t>
            </a:r>
            <a:r>
              <a:rPr lang="en-IN" dirty="0" err="1"/>
              <a:t>i</a:t>
            </a:r>
            <a:r>
              <a:rPr lang="en-IN" dirty="0"/>
              <a:t> </a:t>
            </a:r>
            <a:r>
              <a:rPr lang="en-IN" dirty="0" err="1"/>
              <a:t>key.pem</a:t>
            </a:r>
            <a:r>
              <a:rPr lang="en-IN" dirty="0"/>
              <a:t> ubuntu@&lt;EC2_1_PRIVATE_IP&gt;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74023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BC31EF-CF97-6BE7-7698-D7FA78AC0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🏗️ Final connectivity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E5DC9E-1549-3CEA-BD6F-725F09B195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dirty="0"/>
              <a:t>Local</a:t>
            </a:r>
            <a:br>
              <a:rPr lang="en-IN" dirty="0"/>
            </a:br>
            <a:r>
              <a:rPr lang="en-IN" dirty="0"/>
              <a:t>├── SSH → EC2-1 ✅</a:t>
            </a:r>
            <a:br>
              <a:rPr lang="en-IN" dirty="0"/>
            </a:br>
            <a:r>
              <a:rPr lang="en-IN" dirty="0"/>
              <a:t>└── SSH → EC2-2 ✅</a:t>
            </a:r>
            <a:br>
              <a:rPr lang="en-IN" dirty="0"/>
            </a:br>
            <a:br>
              <a:rPr lang="en-IN" dirty="0"/>
            </a:br>
            <a:r>
              <a:rPr lang="en-IN" dirty="0"/>
              <a:t>EC2-2</a:t>
            </a:r>
            <a:br>
              <a:rPr lang="en-IN" dirty="0"/>
            </a:br>
            <a:r>
              <a:rPr lang="en-IN" dirty="0"/>
              <a:t>└── SSH → EC2-1 ✅</a:t>
            </a:r>
          </a:p>
          <a:p>
            <a:r>
              <a:rPr lang="en-IN" dirty="0"/>
              <a:t>What you’ve completed</a:t>
            </a:r>
          </a:p>
          <a:p>
            <a:r>
              <a:rPr lang="en-IN" dirty="0"/>
              <a:t>✔ EC2-1 (SFTP) ready</a:t>
            </a:r>
            <a:br>
              <a:rPr lang="en-IN" dirty="0"/>
            </a:br>
            <a:r>
              <a:rPr lang="en-IN" dirty="0"/>
              <a:t>✔ EC2-2 (Ingestion + MySQL) ready</a:t>
            </a:r>
            <a:br>
              <a:rPr lang="en-IN" dirty="0"/>
            </a:br>
            <a:r>
              <a:rPr lang="en-IN" dirty="0"/>
              <a:t>✔ SSH working:</a:t>
            </a:r>
            <a:br>
              <a:rPr lang="en-IN" dirty="0"/>
            </a:br>
            <a:r>
              <a:rPr lang="en-IN" dirty="0"/>
              <a:t>local → EC2-1</a:t>
            </a:r>
            <a:br>
              <a:rPr lang="en-IN" dirty="0"/>
            </a:br>
            <a:r>
              <a:rPr lang="en-IN" dirty="0"/>
              <a:t>local → EC2-2</a:t>
            </a:r>
            <a:br>
              <a:rPr lang="en-IN" dirty="0"/>
            </a:br>
            <a:r>
              <a:rPr lang="en-IN" dirty="0"/>
              <a:t>EC2-2 → EC2-1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9428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1C216-D789-2227-426B-6554AFB0E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Prepare SFTP data (EC2-1)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33AB22-FBB2-58D6-EEB5-5698A23E39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SSH into EC2-1:</a:t>
            </a:r>
          </a:p>
          <a:p>
            <a:pPr marL="0" indent="0">
              <a:buNone/>
            </a:pPr>
            <a:r>
              <a:rPr lang="en-IN" dirty="0"/>
              <a:t>ssh -</a:t>
            </a:r>
            <a:r>
              <a:rPr lang="en-IN" dirty="0" err="1"/>
              <a:t>i</a:t>
            </a:r>
            <a:r>
              <a:rPr lang="en-IN" dirty="0"/>
              <a:t> </a:t>
            </a:r>
            <a:r>
              <a:rPr lang="en-IN" dirty="0" err="1"/>
              <a:t>key.pem</a:t>
            </a:r>
            <a:r>
              <a:rPr lang="en-IN" dirty="0"/>
              <a:t> ubuntu@&lt;EC2_1_IP&gt;</a:t>
            </a:r>
          </a:p>
          <a:p>
            <a:r>
              <a:rPr lang="en-IN" dirty="0"/>
              <a:t>Create folder:</a:t>
            </a:r>
          </a:p>
          <a:p>
            <a:pPr marL="0" indent="0">
              <a:buNone/>
            </a:pPr>
            <a:r>
              <a:rPr lang="en-IN" dirty="0"/>
              <a:t>ssh -</a:t>
            </a:r>
            <a:r>
              <a:rPr lang="en-IN" dirty="0" err="1"/>
              <a:t>i</a:t>
            </a:r>
            <a:r>
              <a:rPr lang="en-IN" dirty="0"/>
              <a:t> </a:t>
            </a:r>
            <a:r>
              <a:rPr lang="en-IN" dirty="0" err="1"/>
              <a:t>key.pem</a:t>
            </a:r>
            <a:r>
              <a:rPr lang="en-IN" dirty="0"/>
              <a:t> ubuntu@&lt;EC2_1_IP&gt;</a:t>
            </a:r>
          </a:p>
          <a:p>
            <a:r>
              <a:rPr lang="en-IN" dirty="0"/>
              <a:t>Create folder:</a:t>
            </a:r>
          </a:p>
          <a:p>
            <a:pPr marL="0" indent="0">
              <a:buNone/>
            </a:pPr>
            <a:r>
              <a:rPr lang="en-IN" dirty="0" err="1"/>
              <a:t>mkdir</a:t>
            </a:r>
            <a:r>
              <a:rPr lang="en-IN" dirty="0"/>
              <a:t> -p ~/sftp-drop</a:t>
            </a:r>
          </a:p>
          <a:p>
            <a:pPr marL="0" indent="0">
              <a:buNone/>
            </a:pPr>
            <a:r>
              <a:rPr lang="en-IN" dirty="0"/>
              <a:t>echo "</a:t>
            </a:r>
            <a:r>
              <a:rPr lang="en-IN" dirty="0" err="1"/>
              <a:t>id,name,salary</a:t>
            </a:r>
            <a:r>
              <a:rPr lang="en-IN" dirty="0"/>
              <a:t>" &gt; ~/sftp-drop/</a:t>
            </a:r>
            <a:r>
              <a:rPr lang="en-IN" dirty="0" err="1"/>
              <a:t>hr_data.csv</a:t>
            </a:r>
            <a:br>
              <a:rPr lang="en-IN" dirty="0"/>
            </a:br>
            <a:r>
              <a:rPr lang="en-IN" dirty="0"/>
              <a:t>echo "1,John,50000" &gt;&gt; ~/sftp-drop/</a:t>
            </a:r>
            <a:r>
              <a:rPr lang="en-IN" dirty="0" err="1"/>
              <a:t>hr_data.csv</a:t>
            </a:r>
            <a:br>
              <a:rPr lang="en-IN" dirty="0"/>
            </a:br>
            <a:r>
              <a:rPr lang="en-IN" dirty="0"/>
              <a:t>echo "2,Sarah,60000" &gt;&gt; ~/sftp-drop/</a:t>
            </a:r>
            <a:r>
              <a:rPr lang="en-IN" dirty="0" err="1"/>
              <a:t>hr_data.csv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84367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70BD97-E556-0B9A-AE3A-B9CBFBB29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Setup MySQL (EC2-2)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C0161E-45D6-D271-58FE-E06B9C3438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0000" lnSpcReduction="20000"/>
          </a:bodyPr>
          <a:lstStyle/>
          <a:p>
            <a:r>
              <a:rPr lang="en-IN" sz="2500" b="1" u="sng" dirty="0"/>
              <a:t>SSH into EC2-2:</a:t>
            </a:r>
          </a:p>
          <a:p>
            <a:pPr marL="0" indent="0">
              <a:buNone/>
            </a:pPr>
            <a:r>
              <a:rPr lang="en-IN" dirty="0"/>
              <a:t>ssh -</a:t>
            </a:r>
            <a:r>
              <a:rPr lang="en-IN" dirty="0" err="1"/>
              <a:t>i</a:t>
            </a:r>
            <a:r>
              <a:rPr lang="en-IN" dirty="0"/>
              <a:t> </a:t>
            </a:r>
            <a:r>
              <a:rPr lang="en-IN" dirty="0" err="1"/>
              <a:t>key.pem</a:t>
            </a:r>
            <a:r>
              <a:rPr lang="en-IN" dirty="0"/>
              <a:t> ubuntu@&lt;EC2_2_IP&gt;</a:t>
            </a:r>
          </a:p>
          <a:p>
            <a:r>
              <a:rPr lang="en-IN" sz="3000" b="1" u="sng" dirty="0"/>
              <a:t>Start MySQL</a:t>
            </a:r>
          </a:p>
          <a:p>
            <a:pPr marL="0" indent="0">
              <a:buNone/>
            </a:pPr>
            <a:r>
              <a:rPr lang="en-IN" dirty="0" err="1"/>
              <a:t>sudo</a:t>
            </a:r>
            <a:r>
              <a:rPr lang="en-IN" dirty="0"/>
              <a:t> </a:t>
            </a:r>
            <a:r>
              <a:rPr lang="en-IN" dirty="0" err="1"/>
              <a:t>mysql</a:t>
            </a:r>
            <a:endParaRPr lang="en-IN" dirty="0"/>
          </a:p>
          <a:p>
            <a:r>
              <a:rPr lang="en-IN" sz="3000" b="1" u="sng" dirty="0"/>
              <a:t>Create DB + user</a:t>
            </a:r>
          </a:p>
          <a:p>
            <a:pPr marL="0" indent="0">
              <a:buNone/>
            </a:pPr>
            <a:r>
              <a:rPr lang="en-IN" dirty="0"/>
              <a:t>CREATE DATABASE </a:t>
            </a:r>
            <a:r>
              <a:rPr lang="en-IN" dirty="0" err="1"/>
              <a:t>data_engineering</a:t>
            </a:r>
            <a:r>
              <a:rPr lang="en-IN" dirty="0"/>
              <a:t>;</a:t>
            </a:r>
            <a:br>
              <a:rPr lang="en-IN" dirty="0"/>
            </a:br>
            <a:br>
              <a:rPr lang="en-IN" dirty="0"/>
            </a:br>
            <a:r>
              <a:rPr lang="en-IN" dirty="0"/>
              <a:t>CREATE USER '</a:t>
            </a:r>
            <a:r>
              <a:rPr lang="en-IN" dirty="0" err="1"/>
              <a:t>de_user'@'localhost</a:t>
            </a:r>
            <a:r>
              <a:rPr lang="en-IN" dirty="0"/>
              <a:t>' IDENTIFIED BY '</a:t>
            </a:r>
            <a:r>
              <a:rPr lang="en-IN" dirty="0" err="1"/>
              <a:t>de_password</a:t>
            </a:r>
            <a:r>
              <a:rPr lang="en-IN" dirty="0"/>
              <a:t>';</a:t>
            </a:r>
            <a:br>
              <a:rPr lang="en-IN" dirty="0"/>
            </a:br>
            <a:br>
              <a:rPr lang="en-IN" dirty="0"/>
            </a:br>
            <a:r>
              <a:rPr lang="en-IN" dirty="0"/>
              <a:t>GRANT ALL PRIVILEGES ON </a:t>
            </a:r>
            <a:r>
              <a:rPr lang="en-IN" dirty="0" err="1"/>
              <a:t>data_engineering</a:t>
            </a:r>
            <a:r>
              <a:rPr lang="en-IN" dirty="0"/>
              <a:t>.* TO '</a:t>
            </a:r>
            <a:r>
              <a:rPr lang="en-IN" dirty="0" err="1"/>
              <a:t>de_user'@'localhost</a:t>
            </a:r>
            <a:r>
              <a:rPr lang="en-IN" dirty="0"/>
              <a:t>';</a:t>
            </a:r>
            <a:br>
              <a:rPr lang="en-IN" dirty="0"/>
            </a:br>
            <a:br>
              <a:rPr lang="en-IN" dirty="0"/>
            </a:br>
            <a:r>
              <a:rPr lang="en-IN" dirty="0"/>
              <a:t>FLUSH PRIVILEGES;</a:t>
            </a:r>
          </a:p>
          <a:p>
            <a:pPr marL="0" indent="0">
              <a:buNone/>
            </a:pPr>
            <a:endParaRPr lang="en-IN" dirty="0"/>
          </a:p>
          <a:p>
            <a:r>
              <a:rPr lang="en-IN" sz="3000" b="1" u="sng" dirty="0"/>
              <a:t>Create table</a:t>
            </a:r>
          </a:p>
          <a:p>
            <a:pPr marL="0" indent="0">
              <a:buNone/>
            </a:pPr>
            <a:r>
              <a:rPr lang="en-IN" dirty="0"/>
              <a:t>USE </a:t>
            </a:r>
            <a:r>
              <a:rPr lang="en-IN" dirty="0" err="1"/>
              <a:t>data_engineering</a:t>
            </a:r>
            <a:r>
              <a:rPr lang="en-IN" dirty="0"/>
              <a:t>;</a:t>
            </a:r>
            <a:br>
              <a:rPr lang="en-IN" dirty="0"/>
            </a:br>
            <a:br>
              <a:rPr lang="en-IN" dirty="0"/>
            </a:br>
            <a:r>
              <a:rPr lang="en-IN" dirty="0"/>
              <a:t>CREATE TABLE employees (</a:t>
            </a:r>
            <a:br>
              <a:rPr lang="en-IN" dirty="0"/>
            </a:br>
            <a:r>
              <a:rPr lang="en-IN" dirty="0"/>
              <a:t>id INT,</a:t>
            </a:r>
            <a:br>
              <a:rPr lang="en-IN" dirty="0"/>
            </a:br>
            <a:r>
              <a:rPr lang="en-IN" dirty="0"/>
              <a:t>name VARCHAR(100),</a:t>
            </a:r>
            <a:br>
              <a:rPr lang="en-IN" dirty="0"/>
            </a:br>
            <a:r>
              <a:rPr lang="en-IN" dirty="0"/>
              <a:t>salary INT</a:t>
            </a:r>
            <a:br>
              <a:rPr lang="en-IN" dirty="0"/>
            </a:br>
            <a:r>
              <a:rPr lang="en-IN" dirty="0"/>
              <a:t>);</a:t>
            </a:r>
          </a:p>
          <a:p>
            <a:pPr marL="0" indent="0">
              <a:buNone/>
            </a:pPr>
            <a:r>
              <a:rPr lang="en-IN" dirty="0"/>
              <a:t>exit;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9715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6FBE15-CCAF-1D0B-3FC4-FA5E329154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🧱 Install Python libs (EC2-2)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CA09BF-8566-9E0D-E011-E1CFBAA557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IN" dirty="0"/>
              <a:t>Use below command to install dependencies now:</a:t>
            </a:r>
          </a:p>
          <a:p>
            <a:r>
              <a:rPr lang="en-IN" dirty="0"/>
              <a:t>pip3 install </a:t>
            </a:r>
            <a:r>
              <a:rPr lang="en-IN" dirty="0" err="1"/>
              <a:t>paramiko</a:t>
            </a:r>
            <a:r>
              <a:rPr lang="en-IN" dirty="0"/>
              <a:t> pandas </a:t>
            </a:r>
            <a:r>
              <a:rPr lang="en-IN" dirty="0" err="1"/>
              <a:t>pymysql</a:t>
            </a:r>
            <a:endParaRPr lang="en-IN" dirty="0"/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Ubuntu now </a:t>
            </a:r>
            <a:r>
              <a:rPr lang="en-IN" b="1" dirty="0"/>
              <a:t>blocks global pip installs</a:t>
            </a:r>
            <a:r>
              <a:rPr lang="en-IN" dirty="0"/>
              <a:t> to protect system Python.</a:t>
            </a:r>
          </a:p>
          <a:p>
            <a:pPr marL="0" indent="0">
              <a:buNone/>
            </a:pPr>
            <a:r>
              <a:rPr lang="en-IN" dirty="0"/>
              <a:t>Because System Python is managed by OS (apt), hence to prevent pip install breaking system packages used by OS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Alternative resolutions:</a:t>
            </a:r>
          </a:p>
          <a:p>
            <a:pPr marL="0" indent="0">
              <a:buNone/>
            </a:pPr>
            <a:br>
              <a:rPr lang="en-IN" dirty="0"/>
            </a:br>
            <a:r>
              <a:rPr lang="en-IN" dirty="0"/>
              <a:t>    1. </a:t>
            </a:r>
            <a:r>
              <a:rPr lang="en-IN" b="1" dirty="0"/>
              <a:t>Use Virtual Environment (</a:t>
            </a:r>
            <a:r>
              <a:rPr lang="en-IN" b="1" dirty="0" err="1"/>
              <a:t>venv</a:t>
            </a:r>
            <a:r>
              <a:rPr lang="en-IN" b="1" dirty="0"/>
              <a:t>)</a:t>
            </a:r>
          </a:p>
          <a:p>
            <a:pPr marL="0" indent="0">
              <a:buNone/>
            </a:pPr>
            <a:r>
              <a:rPr lang="en-IN" dirty="0"/>
              <a:t>python3 -m </a:t>
            </a:r>
            <a:r>
              <a:rPr lang="en-IN" dirty="0" err="1"/>
              <a:t>venv</a:t>
            </a:r>
            <a:r>
              <a:rPr lang="en-IN" dirty="0"/>
              <a:t> </a:t>
            </a:r>
            <a:r>
              <a:rPr lang="en-IN" dirty="0" err="1"/>
              <a:t>venv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source </a:t>
            </a:r>
            <a:r>
              <a:rPr lang="en-IN" dirty="0" err="1"/>
              <a:t>venv</a:t>
            </a:r>
            <a:r>
              <a:rPr lang="en-IN" dirty="0"/>
              <a:t>/bin/activate</a:t>
            </a:r>
          </a:p>
          <a:p>
            <a:pPr marL="0" indent="0">
              <a:buNone/>
            </a:pPr>
            <a:r>
              <a:rPr lang="en-IN" dirty="0"/>
              <a:t>source </a:t>
            </a:r>
            <a:r>
              <a:rPr lang="en-IN" dirty="0" err="1"/>
              <a:t>venv</a:t>
            </a:r>
            <a:r>
              <a:rPr lang="en-IN" dirty="0"/>
              <a:t>/bin/activate</a:t>
            </a:r>
          </a:p>
          <a:p>
            <a:pPr marL="0" indent="0">
              <a:buNone/>
            </a:pPr>
            <a:r>
              <a:rPr lang="en-IN" dirty="0"/>
              <a:t>python </a:t>
            </a:r>
            <a:r>
              <a:rPr lang="en-IN" dirty="0" err="1"/>
              <a:t>ingest.py</a:t>
            </a:r>
            <a:endParaRPr lang="en-IN" dirty="0"/>
          </a:p>
          <a:p>
            <a:pPr marL="0" indent="0">
              <a:buNone/>
            </a:pPr>
            <a:endParaRPr lang="en-IN" b="1" dirty="0"/>
          </a:p>
          <a:p>
            <a:pPr marL="0" indent="0">
              <a:buNone/>
            </a:pPr>
            <a:r>
              <a:rPr lang="en-IN" b="1" dirty="0"/>
              <a:t>    </a:t>
            </a:r>
            <a:r>
              <a:rPr lang="en-IN" dirty="0"/>
              <a:t>2. Quick hack: pip install </a:t>
            </a:r>
            <a:r>
              <a:rPr lang="en-IN" dirty="0" err="1"/>
              <a:t>paramiko</a:t>
            </a:r>
            <a:r>
              <a:rPr lang="en-IN" dirty="0"/>
              <a:t> pandas </a:t>
            </a:r>
            <a:r>
              <a:rPr lang="en-IN" dirty="0" err="1"/>
              <a:t>pymysql</a:t>
            </a:r>
            <a:r>
              <a:rPr lang="en-IN" dirty="0"/>
              <a:t> --break-system-packages</a:t>
            </a:r>
            <a:endParaRPr lang="en-IN" b="1" dirty="0"/>
          </a:p>
          <a:p>
            <a:pPr marL="0" indent="0">
              <a:buNone/>
            </a:pPr>
            <a:r>
              <a:rPr lang="en-US" dirty="0"/>
              <a:t>pip install </a:t>
            </a:r>
            <a:r>
              <a:rPr lang="en-US" dirty="0" err="1"/>
              <a:t>paramiko</a:t>
            </a:r>
            <a:r>
              <a:rPr lang="en-US" dirty="0"/>
              <a:t> pandas </a:t>
            </a:r>
            <a:r>
              <a:rPr lang="en-US" dirty="0" err="1"/>
              <a:t>pymysql</a:t>
            </a:r>
            <a:r>
              <a:rPr lang="en-US" dirty="0"/>
              <a:t> --break-system-packages</a:t>
            </a:r>
          </a:p>
        </p:txBody>
      </p:sp>
    </p:spTree>
    <p:extLst>
      <p:ext uri="{BB962C8B-B14F-4D97-AF65-F5344CB8AC3E}">
        <p14:creationId xmlns:p14="http://schemas.microsoft.com/office/powerpoint/2010/main" val="4965431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40482-FA7A-68EB-E6A7-1213BF8DD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Create ingestion script (EC2-2)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4E9BA0-5B89-1004-8492-604481ED4E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5327" y="1118937"/>
            <a:ext cx="10760900" cy="5190423"/>
          </a:xfrm>
        </p:spPr>
        <p:txBody>
          <a:bodyPr/>
          <a:lstStyle/>
          <a:p>
            <a:pPr marL="0" indent="0">
              <a:buNone/>
            </a:pPr>
            <a:br>
              <a:rPr lang="en-US" dirty="0"/>
            </a:br>
            <a:r>
              <a:rPr lang="en-US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70D19A7-6240-DB65-669B-B88F6BC024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653" y="1114769"/>
            <a:ext cx="6136105" cy="5501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10487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CD43F-B8C7-C961-BB57-2D8BBD5F7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Run pipeline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40CB6F-C6AC-289F-EF7E-7190DCA037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dirty="0"/>
              <a:t>python3 </a:t>
            </a:r>
            <a:r>
              <a:rPr lang="en-IN" dirty="0" err="1"/>
              <a:t>ingest.py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66825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EB9777-9256-987B-4955-2F8FF7CBB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Verify data: Very Important Step in Data Engineering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97FE28-8DD9-4D1E-971B-F942BE66BF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//login to ec2-1- sftp server</a:t>
            </a:r>
          </a:p>
          <a:p>
            <a:pPr marL="0" indent="0">
              <a:buNone/>
            </a:pPr>
            <a:r>
              <a:rPr lang="en-US" dirty="0"/>
              <a:t>ssh -</a:t>
            </a:r>
            <a:r>
              <a:rPr lang="en-US" dirty="0" err="1"/>
              <a:t>i</a:t>
            </a:r>
            <a:r>
              <a:rPr lang="en-US" dirty="0"/>
              <a:t> ec2_sftp_keys.pem </a:t>
            </a:r>
            <a:r>
              <a:rPr lang="en-US" dirty="0">
                <a:hlinkClick r:id="rId2"/>
              </a:rPr>
              <a:t>ubuntu@3.81.26.116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//login to </a:t>
            </a:r>
            <a:r>
              <a:rPr lang="en-US" dirty="0" err="1"/>
              <a:t>mysql</a:t>
            </a:r>
            <a:endParaRPr lang="en-US" dirty="0"/>
          </a:p>
          <a:p>
            <a:pPr marL="0" indent="0">
              <a:buNone/>
            </a:pPr>
            <a:r>
              <a:rPr lang="en-IN" dirty="0" err="1"/>
              <a:t>sudo</a:t>
            </a:r>
            <a:r>
              <a:rPr lang="en-IN" dirty="0"/>
              <a:t> </a:t>
            </a:r>
            <a:r>
              <a:rPr lang="en-IN" dirty="0" err="1"/>
              <a:t>mysql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USE </a:t>
            </a:r>
            <a:r>
              <a:rPr lang="en-IN" dirty="0" err="1"/>
              <a:t>data_engineering</a:t>
            </a:r>
            <a:r>
              <a:rPr lang="en-IN" dirty="0"/>
              <a:t>;</a:t>
            </a:r>
          </a:p>
          <a:p>
            <a:pPr marL="0" indent="0">
              <a:buNone/>
            </a:pPr>
            <a:r>
              <a:rPr lang="en-IN" dirty="0"/>
              <a:t>SELECT * FROM employees;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15350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37418-313B-6A80-F9E7-572D88985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Querying through MySQL tool(Mac)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3DE486-8A3C-2665-396D-A58117E960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IN" b="1" dirty="0"/>
              <a:t>Option 1:  </a:t>
            </a:r>
            <a:r>
              <a:rPr lang="en-IN" u="sng" dirty="0" err="1"/>
              <a:t>Tunneling</a:t>
            </a:r>
            <a:br>
              <a:rPr lang="en-IN" dirty="0"/>
            </a:br>
            <a:r>
              <a:rPr lang="en-US" dirty="0"/>
              <a:t>ssh -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key.pem</a:t>
            </a:r>
            <a:r>
              <a:rPr lang="en-US" dirty="0"/>
              <a:t> -L 3307:localhost:3306 ubuntu@&lt;EC2_IP&gt; -N</a:t>
            </a:r>
          </a:p>
          <a:p>
            <a:pPr marL="0" indent="0">
              <a:buNone/>
            </a:pPr>
            <a:r>
              <a:rPr lang="en-IN" dirty="0"/>
              <a:t>Then on your laptop:</a:t>
            </a:r>
            <a:br>
              <a:rPr lang="en-IN" dirty="0"/>
            </a:br>
            <a:r>
              <a:rPr lang="en-US" dirty="0" err="1"/>
              <a:t>mysql</a:t>
            </a:r>
            <a:r>
              <a:rPr lang="en-US" dirty="0"/>
              <a:t> -h 127.0.0.1 -P 3307 -u </a:t>
            </a:r>
            <a:r>
              <a:rPr lang="en-US" dirty="0" err="1"/>
              <a:t>de_user</a:t>
            </a:r>
            <a:r>
              <a:rPr lang="en-US" dirty="0"/>
              <a:t> –p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Option 2: </a:t>
            </a:r>
            <a:r>
              <a:rPr lang="en-IN" u="sng" dirty="0"/>
              <a:t>Use Web-based DB tools </a:t>
            </a:r>
            <a:endParaRPr lang="en-IN" b="1" u="sng" dirty="0"/>
          </a:p>
          <a:p>
            <a:pPr marL="0" indent="0">
              <a:buNone/>
            </a:pPr>
            <a:r>
              <a:rPr lang="en-IN" dirty="0"/>
              <a:t>On EC2 type below commands:</a:t>
            </a:r>
          </a:p>
          <a:p>
            <a:pPr marL="0" indent="0">
              <a:buNone/>
            </a:pPr>
            <a:r>
              <a:rPr lang="en-IN" dirty="0" err="1"/>
              <a:t>sudo</a:t>
            </a:r>
            <a:r>
              <a:rPr lang="en-IN" dirty="0"/>
              <a:t> apt install </a:t>
            </a:r>
            <a:r>
              <a:rPr lang="en-IN" dirty="0" err="1"/>
              <a:t>php</a:t>
            </a:r>
            <a:r>
              <a:rPr lang="en-IN" dirty="0"/>
              <a:t> </a:t>
            </a:r>
            <a:r>
              <a:rPr lang="en-IN" dirty="0" err="1"/>
              <a:t>php-mysql</a:t>
            </a:r>
            <a:r>
              <a:rPr lang="en-IN" dirty="0"/>
              <a:t> -y</a:t>
            </a:r>
          </a:p>
          <a:p>
            <a:pPr marL="0" indent="0">
              <a:buNone/>
            </a:pPr>
            <a:r>
              <a:rPr lang="en-IN" dirty="0"/>
              <a:t>cd /var/www/html</a:t>
            </a:r>
            <a:br>
              <a:rPr lang="en-IN" dirty="0"/>
            </a:br>
            <a:r>
              <a:rPr lang="en-IN" dirty="0" err="1"/>
              <a:t>sudo</a:t>
            </a:r>
            <a:r>
              <a:rPr lang="en-IN" dirty="0"/>
              <a:t> </a:t>
            </a:r>
            <a:r>
              <a:rPr lang="en-IN" dirty="0" err="1"/>
              <a:t>wget</a:t>
            </a:r>
            <a:r>
              <a:rPr lang="en-IN" dirty="0"/>
              <a:t> https://</a:t>
            </a:r>
            <a:r>
              <a:rPr lang="en-IN" dirty="0" err="1"/>
              <a:t>www.adminer.org</a:t>
            </a:r>
            <a:r>
              <a:rPr lang="en-IN" dirty="0"/>
              <a:t>/</a:t>
            </a:r>
            <a:r>
              <a:rPr lang="en-IN" dirty="0" err="1"/>
              <a:t>latest.php</a:t>
            </a:r>
            <a:r>
              <a:rPr lang="en-IN" dirty="0"/>
              <a:t> -O </a:t>
            </a:r>
            <a:r>
              <a:rPr lang="en-IN" dirty="0" err="1"/>
              <a:t>adminer.php</a:t>
            </a:r>
            <a:br>
              <a:rPr lang="en-IN" dirty="0"/>
            </a:br>
            <a:endParaRPr lang="en-IN" dirty="0"/>
          </a:p>
          <a:p>
            <a:pPr marL="0" indent="0">
              <a:buNone/>
            </a:pPr>
            <a:r>
              <a:rPr lang="en-IN" dirty="0"/>
              <a:t>Then, open in browser: http://&lt;EC2_IP&gt;/</a:t>
            </a:r>
            <a:r>
              <a:rPr lang="en-IN" dirty="0" err="1"/>
              <a:t>adminer.php</a:t>
            </a:r>
            <a:r>
              <a:rPr lang="en-IN" dirty="0"/>
              <a:t>(credentials in slide 11)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34115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71866-4330-AD07-37C9-5C4F3053F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🧱 STEP-BY-STEP: CloudWatch Logging Integration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CCE7FD-7E02-FD44-C22A-2ADCADB758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62348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88617-3702-DA58-3C43-83925F4B4A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✅ Step 1: Install required libraries (EC2)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B0B28A-15CC-B843-8C7B-2A7EBB8547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Below pip install line can be added in ec2 starter script, or run in ec2- server standalone:</a:t>
            </a:r>
          </a:p>
          <a:p>
            <a:pPr marL="0" indent="0">
              <a:buNone/>
            </a:pPr>
            <a:r>
              <a:rPr lang="en-US" dirty="0"/>
              <a:t>pip3 install watchtower boto3 --break-system-packages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Boto3: </a:t>
            </a:r>
            <a:r>
              <a:rPr lang="en-IN" dirty="0"/>
              <a:t>watchtower uses boto3 internally</a:t>
            </a:r>
          </a:p>
          <a:p>
            <a:pPr marL="0" indent="0">
              <a:buNone/>
            </a:pPr>
            <a:r>
              <a:rPr lang="en-US" dirty="0"/>
              <a:t>Shortcut to add region:</a:t>
            </a:r>
          </a:p>
          <a:p>
            <a:pPr marL="0" indent="0">
              <a:buNone/>
            </a:pPr>
            <a:r>
              <a:rPr lang="en-IN" dirty="0"/>
              <a:t>export AWS_DEFAULT_REGION=us-east-1</a:t>
            </a:r>
          </a:p>
          <a:p>
            <a:pPr marL="0" indent="0">
              <a:buNone/>
            </a:pPr>
            <a:r>
              <a:rPr lang="en-US" b="1" dirty="0"/>
              <a:t>Watchtower: </a:t>
            </a:r>
            <a:r>
              <a:rPr lang="en-IN" dirty="0"/>
              <a:t>used for creating the logger in AWS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Alternatively, add below lines to </a:t>
            </a:r>
            <a:r>
              <a:rPr lang="en-IN" dirty="0" err="1"/>
              <a:t>ingest.py</a:t>
            </a:r>
            <a:endParaRPr lang="en-IN" dirty="0"/>
          </a:p>
          <a:p>
            <a:r>
              <a:rPr lang="en-IN" dirty="0"/>
              <a:t>import boto3</a:t>
            </a:r>
          </a:p>
          <a:p>
            <a:r>
              <a:rPr lang="en-IN" dirty="0"/>
              <a:t>boto3.setup_default_session(</a:t>
            </a:r>
            <a:r>
              <a:rPr lang="en-IN" dirty="0" err="1"/>
              <a:t>region_name</a:t>
            </a:r>
            <a:r>
              <a:rPr lang="en-IN" dirty="0"/>
              <a:t>="us-east-1")</a:t>
            </a:r>
          </a:p>
          <a:p>
            <a:pPr marL="0" indent="0">
              <a:buNone/>
            </a:pPr>
            <a:r>
              <a:rPr lang="en-IN" dirty="0"/>
              <a:t>🧠 Why needed?</a:t>
            </a:r>
          </a:p>
          <a:p>
            <a:pPr marL="0" indent="0">
              <a:buNone/>
            </a:pPr>
            <a:r>
              <a:rPr lang="en-US" dirty="0"/>
              <a:t>CloudWatch is region-specific → boto3 needs region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25995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F3B3B-6492-C804-0082-973865647F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✅ Step 2: Add logging in your Python script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A710EC-3B66-7747-EF2E-71C1063276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IN" dirty="0"/>
              <a:t>🔹 </a:t>
            </a:r>
            <a:r>
              <a:rPr lang="en-IN" b="1" dirty="0"/>
              <a:t>Create logger:</a:t>
            </a:r>
          </a:p>
          <a:p>
            <a:pPr marL="0" indent="0">
              <a:buNone/>
            </a:pPr>
            <a:r>
              <a:rPr lang="en-US" dirty="0"/>
              <a:t>from datetime import datetime</a:t>
            </a:r>
          </a:p>
          <a:p>
            <a:pPr marL="0" indent="0">
              <a:buNone/>
            </a:pPr>
            <a:r>
              <a:rPr lang="en-US" dirty="0"/>
              <a:t>import logging</a:t>
            </a:r>
          </a:p>
          <a:p>
            <a:pPr marL="0" indent="0">
              <a:buNone/>
            </a:pPr>
            <a:r>
              <a:rPr lang="en-US" dirty="0"/>
              <a:t>timestamp = </a:t>
            </a:r>
            <a:r>
              <a:rPr lang="en-US" dirty="0" err="1"/>
              <a:t>datetime.now</a:t>
            </a:r>
            <a:r>
              <a:rPr lang="en-US" dirty="0"/>
              <a:t>().</a:t>
            </a:r>
            <a:r>
              <a:rPr lang="en-US" dirty="0" err="1"/>
              <a:t>strftime</a:t>
            </a:r>
            <a:r>
              <a:rPr lang="en-US" dirty="0"/>
              <a:t>("%</a:t>
            </a:r>
            <a:r>
              <a:rPr lang="en-US" dirty="0" err="1"/>
              <a:t>Y%m%d</a:t>
            </a:r>
            <a:r>
              <a:rPr lang="en-US" dirty="0"/>
              <a:t>_%H%M%S")</a:t>
            </a:r>
          </a:p>
          <a:p>
            <a:pPr marL="0" indent="0">
              <a:buNone/>
            </a:pPr>
            <a:r>
              <a:rPr lang="en-US" dirty="0" err="1"/>
              <a:t>log_stream</a:t>
            </a:r>
            <a:r>
              <a:rPr lang="en-US" dirty="0"/>
              <a:t> = </a:t>
            </a:r>
            <a:r>
              <a:rPr lang="en-US" dirty="0" err="1"/>
              <a:t>f”employee_pipeline</a:t>
            </a:r>
            <a:r>
              <a:rPr lang="en-US" dirty="0"/>
              <a:t>_{timestamp}"</a:t>
            </a:r>
          </a:p>
          <a:p>
            <a:pPr marL="0" indent="0">
              <a:buNone/>
            </a:pPr>
            <a:r>
              <a:rPr lang="en-US" dirty="0" err="1"/>
              <a:t>log_group</a:t>
            </a:r>
            <a:r>
              <a:rPr lang="en-US" dirty="0"/>
              <a:t> = "</a:t>
            </a:r>
            <a:r>
              <a:rPr lang="en-US" dirty="0" err="1"/>
              <a:t>data_engineering</a:t>
            </a:r>
            <a:r>
              <a:rPr lang="en-US" dirty="0"/>
              <a:t>"</a:t>
            </a:r>
          </a:p>
          <a:p>
            <a:pPr marL="0" indent="0">
              <a:buNone/>
            </a:pPr>
            <a:r>
              <a:rPr lang="en-US" dirty="0"/>
              <a:t>logger = </a:t>
            </a:r>
            <a:r>
              <a:rPr lang="en-US" dirty="0" err="1"/>
              <a:t>logging.getLogger</a:t>
            </a:r>
            <a:r>
              <a:rPr lang="en-US" dirty="0"/>
              <a:t>(</a:t>
            </a:r>
            <a:r>
              <a:rPr lang="en-US" dirty="0" err="1"/>
              <a:t>log_stream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 err="1"/>
              <a:t>logger.setLevel</a:t>
            </a:r>
            <a:r>
              <a:rPr lang="en-US" dirty="0"/>
              <a:t>(</a:t>
            </a:r>
            <a:r>
              <a:rPr lang="en-US" dirty="0" err="1"/>
              <a:t>logging.INFO</a:t>
            </a:r>
            <a:r>
              <a:rPr lang="en-US" dirty="0"/>
              <a:t>) </a:t>
            </a:r>
          </a:p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r>
              <a:rPr lang="en-IN" dirty="0"/>
              <a:t>🔹 </a:t>
            </a:r>
            <a:r>
              <a:rPr lang="en-IN" b="1" dirty="0"/>
              <a:t>Add CloudWatch handler:</a:t>
            </a:r>
          </a:p>
          <a:p>
            <a:pPr marL="0" indent="0">
              <a:buNone/>
            </a:pPr>
            <a:r>
              <a:rPr lang="en-IN" dirty="0" err="1"/>
              <a:t>logger.addHandler</a:t>
            </a:r>
            <a:r>
              <a:rPr lang="en-IN" dirty="0"/>
              <a:t>(</a:t>
            </a:r>
            <a:r>
              <a:rPr lang="en-IN" dirty="0" err="1"/>
              <a:t>watchtower.CloudWatchLogHandler</a:t>
            </a:r>
            <a:r>
              <a:rPr lang="en-IN" dirty="0"/>
              <a:t>(</a:t>
            </a:r>
            <a:r>
              <a:rPr lang="en-IN" dirty="0" err="1"/>
              <a:t>log_group</a:t>
            </a:r>
            <a:r>
              <a:rPr lang="en-IN" dirty="0"/>
              <a:t>=</a:t>
            </a:r>
            <a:r>
              <a:rPr lang="en-IN" dirty="0" err="1"/>
              <a:t>log_group</a:t>
            </a:r>
            <a:r>
              <a:rPr lang="en-IN" dirty="0"/>
              <a:t>, </a:t>
            </a:r>
            <a:r>
              <a:rPr lang="en-IN" dirty="0" err="1"/>
              <a:t>stream_name</a:t>
            </a:r>
            <a:r>
              <a:rPr lang="en-IN" dirty="0"/>
              <a:t>=</a:t>
            </a:r>
            <a:r>
              <a:rPr lang="en-IN" dirty="0" err="1"/>
              <a:t>log_stream</a:t>
            </a:r>
            <a:r>
              <a:rPr lang="en-IN" dirty="0"/>
              <a:t>))</a:t>
            </a:r>
          </a:p>
          <a:p>
            <a:pPr marL="0" indent="0">
              <a:buNone/>
            </a:pPr>
            <a:r>
              <a:rPr lang="en-IN" dirty="0" err="1"/>
              <a:t>logger.info</a:t>
            </a:r>
            <a:r>
              <a:rPr lang="en-IN" dirty="0"/>
              <a:t>("Pipeline started")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5711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02E2D-0D3A-6B0A-EE68-EF2FA25AB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✅ Step 3: Create IAM Role (CRITICAL)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292142-C712-085B-5EC9-59BF80D1C3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🔹 Go to IAM → Create Role</a:t>
            </a:r>
          </a:p>
          <a:p>
            <a:r>
              <a:rPr lang="en-IN" dirty="0"/>
              <a:t>Trusted entity type → AWS Service</a:t>
            </a:r>
          </a:p>
          <a:p>
            <a:r>
              <a:rPr lang="en-IN" dirty="0"/>
              <a:t>Use Case → EC2</a:t>
            </a:r>
          </a:p>
          <a:p>
            <a:pPr marL="0" indent="0">
              <a:buNone/>
            </a:pPr>
            <a:endParaRPr lang="en-IN" dirty="0"/>
          </a:p>
          <a:p>
            <a:r>
              <a:rPr lang="en-IN" b="1" dirty="0"/>
              <a:t>🔹 Attach policy: </a:t>
            </a:r>
            <a:r>
              <a:rPr lang="en-IN" dirty="0" err="1"/>
              <a:t>CloudWatchAgentServerPolicy</a:t>
            </a:r>
            <a:endParaRPr lang="en-IN" dirty="0"/>
          </a:p>
          <a:p>
            <a:pPr marL="0" indent="0">
              <a:buNone/>
            </a:pPr>
            <a:endParaRPr lang="en-IN" dirty="0"/>
          </a:p>
          <a:p>
            <a:r>
              <a:rPr lang="en-IN" b="1" dirty="0"/>
              <a:t>🔹 Name: </a:t>
            </a:r>
            <a:r>
              <a:rPr lang="en-IN" dirty="0"/>
              <a:t>ec2-cloudwatch-role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79685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45092-B852-484C-01F6-29B9A0C40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✅ Step 4: Attach IAM Role to EC2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84FF8-964F-EEA7-46B6-2586420C91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dirty="0"/>
              <a:t>Go to:</a:t>
            </a:r>
          </a:p>
          <a:p>
            <a:r>
              <a:rPr lang="en-IN" dirty="0"/>
              <a:t>EC2 → Instance → Actions → Security → Modify IAM Role </a:t>
            </a:r>
          </a:p>
          <a:p>
            <a:pPr marL="0" indent="0">
              <a:buNone/>
            </a:pPr>
            <a:endParaRPr lang="en-IN" dirty="0"/>
          </a:p>
          <a:p>
            <a:r>
              <a:rPr lang="en-IN" dirty="0"/>
              <a:t>Select: ec2-cloudwatch-role</a:t>
            </a:r>
          </a:p>
          <a:p>
            <a:pPr marL="0" indent="0">
              <a:buNone/>
            </a:pPr>
            <a:endParaRPr lang="en-US" dirty="0"/>
          </a:p>
          <a:p>
            <a:r>
              <a:rPr lang="en-IN" b="1" dirty="0"/>
              <a:t>🧠 Why needed?</a:t>
            </a:r>
          </a:p>
          <a:p>
            <a:r>
              <a:rPr lang="en-IN" dirty="0"/>
              <a:t>boto3 needs credentials → IAM role provides temporary credentials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48459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A0AAD7-0D88-720C-8A15-C6B64DBF6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✅ Step 5: Run the pipeline and verify the logs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2BAF66-35C1-B2C5-E59A-32551C92DE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IN" dirty="0"/>
              <a:t>Run: </a:t>
            </a:r>
          </a:p>
          <a:p>
            <a:pPr marL="0" indent="0">
              <a:buNone/>
            </a:pPr>
            <a:r>
              <a:rPr lang="en-IN" dirty="0"/>
              <a:t>python3 </a:t>
            </a:r>
            <a:r>
              <a:rPr lang="en-IN" dirty="0" err="1"/>
              <a:t>ingest.py</a:t>
            </a:r>
            <a:endParaRPr lang="en-IN" dirty="0"/>
          </a:p>
          <a:p>
            <a:pPr marL="0" indent="0">
              <a:buNone/>
            </a:pPr>
            <a:endParaRPr lang="en-IN" dirty="0"/>
          </a:p>
          <a:p>
            <a:r>
              <a:rPr lang="en-IN" b="1" dirty="0"/>
              <a:t>🔹 Go to:</a:t>
            </a:r>
          </a:p>
          <a:p>
            <a:pPr marL="0" indent="0">
              <a:buNone/>
            </a:pPr>
            <a:r>
              <a:rPr lang="en-IN" dirty="0"/>
              <a:t>CloudWatch → Log groups</a:t>
            </a:r>
          </a:p>
          <a:p>
            <a:pPr marL="0" indent="0">
              <a:buNone/>
            </a:pPr>
            <a:endParaRPr lang="en-IN" dirty="0"/>
          </a:p>
          <a:p>
            <a:r>
              <a:rPr lang="en-IN" b="1" dirty="0"/>
              <a:t>🔹 Select correct region:</a:t>
            </a:r>
          </a:p>
          <a:p>
            <a:r>
              <a:rPr lang="en-IN" dirty="0"/>
              <a:t>US East (N. Virginia) → us-east-1</a:t>
            </a:r>
          </a:p>
          <a:p>
            <a:r>
              <a:rPr lang="en-IN" b="1" dirty="0"/>
              <a:t>🔹 Find:</a:t>
            </a:r>
          </a:p>
          <a:p>
            <a:pPr marL="0" indent="0">
              <a:buNone/>
            </a:pPr>
            <a:r>
              <a:rPr lang="en-IN" dirty="0" err="1"/>
              <a:t>data_engineering</a:t>
            </a:r>
            <a:br>
              <a:rPr lang="en-IN" dirty="0"/>
            </a:br>
            <a:endParaRPr lang="en-IN" dirty="0"/>
          </a:p>
          <a:p>
            <a:r>
              <a:rPr lang="en-IN" b="1" dirty="0"/>
              <a:t>🔹 Inside:</a:t>
            </a:r>
          </a:p>
          <a:p>
            <a:r>
              <a:rPr lang="en-IN" dirty="0" err="1"/>
              <a:t>pipeline_run</a:t>
            </a:r>
            <a:r>
              <a:rPr lang="en-IN" dirty="0"/>
              <a:t> → logs visible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44617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AB731-20E5-EE55-251E-8A4983330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>CloudWatch → Alarm → SNS → Email</a:t>
            </a:r>
            <a:br>
              <a:rPr lang="en-IN" dirty="0"/>
            </a:br>
            <a:r>
              <a:rPr lang="en-IN" sz="1800" dirty="0"/>
              <a:t>Step A: Send logs from EC2 → CloudWatch</a:t>
            </a:r>
            <a:br>
              <a:rPr lang="en-IN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7C42E-31F5-E27A-4A25-3FFA4ACEBC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a logging error statement in python script:</a:t>
            </a:r>
            <a:br>
              <a:rPr lang="en-US" dirty="0"/>
            </a:br>
            <a:r>
              <a:rPr lang="en-IN" dirty="0" err="1"/>
              <a:t>logger.error</a:t>
            </a:r>
            <a:r>
              <a:rPr lang="en-IN" dirty="0"/>
              <a:t>("TEST ERROR")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261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3A1E0-9DA9-A7B1-08B3-E8005CC52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🔹 Step 2: Create Metric Filter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CA17DE-7A6D-17D4-1713-1E2150B588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/>
              <a:t>Go to: CloudWatch → Log groups → </a:t>
            </a:r>
            <a:r>
              <a:rPr lang="en-IN" dirty="0" err="1"/>
              <a:t>data_engineering_logs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Create metric filter </a:t>
            </a:r>
          </a:p>
          <a:p>
            <a:pPr marL="0" indent="0">
              <a:buNone/>
            </a:pPr>
            <a:r>
              <a:rPr lang="en-IN" dirty="0"/>
              <a:t>Pattern:  %ERROR%</a:t>
            </a:r>
          </a:p>
          <a:p>
            <a:r>
              <a:rPr lang="en-IN" dirty="0"/>
              <a:t>Metric namespace: </a:t>
            </a:r>
            <a:r>
              <a:rPr lang="en-IN" dirty="0" err="1"/>
              <a:t>ingestion_pipeline</a:t>
            </a:r>
            <a:endParaRPr lang="en-IN" dirty="0"/>
          </a:p>
          <a:p>
            <a:r>
              <a:rPr lang="en-IN" dirty="0"/>
              <a:t>Metric name: </a:t>
            </a:r>
            <a:r>
              <a:rPr lang="en-IN" dirty="0" err="1"/>
              <a:t>error_count</a:t>
            </a:r>
            <a:endParaRPr lang="en-IN" dirty="0"/>
          </a:p>
          <a:p>
            <a:r>
              <a:rPr lang="en-IN" dirty="0"/>
              <a:t>Value: 1</a:t>
            </a:r>
          </a:p>
          <a:p>
            <a:pPr marL="0" indent="0">
              <a:buNone/>
            </a:pPr>
            <a:r>
              <a:rPr lang="en-US" b="1" dirty="0"/>
              <a:t>Note:</a:t>
            </a:r>
            <a:br>
              <a:rPr lang="en-US" dirty="0"/>
            </a:br>
            <a:r>
              <a:rPr lang="en-IN" dirty="0"/>
              <a:t>Metric namespace is generated after the ” </a:t>
            </a:r>
            <a:r>
              <a:rPr lang="en-IN" dirty="0" err="1"/>
              <a:t>logger.error</a:t>
            </a:r>
            <a:r>
              <a:rPr lang="en-IN" dirty="0"/>
              <a:t>(“ERROR message/ </a:t>
            </a:r>
            <a:r>
              <a:rPr lang="en-IN"/>
              <a:t>any message”)” </a:t>
            </a:r>
            <a:r>
              <a:rPr lang="en-IN" dirty="0"/>
              <a:t>runs for the first time.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19185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C98DA-566F-74A4-34C5-2F4841A7A7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🔹 Step 3: Create Alarm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2565B0-BAD6-2421-9BC1-527FFE89D7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Go to: CloudWatch → Alarms → Create alarm</a:t>
            </a:r>
          </a:p>
          <a:p>
            <a:r>
              <a:rPr lang="en-IN" dirty="0"/>
              <a:t>Then:</a:t>
            </a:r>
          </a:p>
          <a:p>
            <a:r>
              <a:rPr lang="en-IN" dirty="0"/>
              <a:t>Select metric → </a:t>
            </a:r>
            <a:r>
              <a:rPr lang="en-IN" b="1" dirty="0"/>
              <a:t>Browse</a:t>
            </a:r>
            <a:r>
              <a:rPr lang="en-IN" dirty="0"/>
              <a:t> </a:t>
            </a:r>
          </a:p>
          <a:p>
            <a:r>
              <a:rPr lang="en-IN" dirty="0"/>
              <a:t>Custom Namespaces → </a:t>
            </a:r>
            <a:r>
              <a:rPr lang="en-IN" dirty="0" err="1"/>
              <a:t>ingestion_pipeline</a:t>
            </a:r>
            <a:r>
              <a:rPr lang="en-IN" dirty="0"/>
              <a:t> → </a:t>
            </a:r>
            <a:r>
              <a:rPr lang="en-IN" dirty="0" err="1"/>
              <a:t>error_count</a:t>
            </a:r>
            <a:endParaRPr lang="en-IN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76922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20C4A-C478-144D-CE7F-606D04220B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>🔹 Step 3: Create SNS Topic</a:t>
            </a:r>
            <a:br>
              <a:rPr lang="en-IN" dirty="0"/>
            </a:br>
            <a:br>
              <a:rPr lang="en-IN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3FA1ED-673B-3F06-1F9F-8EC977EC61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During alarm setup:</a:t>
            </a:r>
            <a:br>
              <a:rPr lang="en-IN" dirty="0"/>
            </a:br>
            <a:r>
              <a:rPr lang="en-IN" dirty="0"/>
              <a:t>Create topic: ingestion-alerts</a:t>
            </a:r>
          </a:p>
          <a:p>
            <a:endParaRPr lang="en-IN" dirty="0"/>
          </a:p>
          <a:p>
            <a:pPr marL="0" indent="0">
              <a:buNone/>
            </a:pPr>
            <a:r>
              <a:rPr lang="en-IN" dirty="0"/>
              <a:t>Add Email Subscription</a:t>
            </a:r>
          </a:p>
          <a:p>
            <a:r>
              <a:rPr lang="en-IN" dirty="0"/>
              <a:t>Protocol → Email </a:t>
            </a:r>
          </a:p>
          <a:p>
            <a:r>
              <a:rPr lang="en-IN" dirty="0"/>
              <a:t>Enter your email </a:t>
            </a:r>
          </a:p>
          <a:p>
            <a:r>
              <a:rPr lang="en-IN" dirty="0"/>
              <a:t>📩 Confirm email (CRITICAL)</a:t>
            </a:r>
          </a:p>
          <a:p>
            <a:pPr marL="0" indent="0">
              <a:buNone/>
            </a:pPr>
            <a:r>
              <a:rPr lang="en-IN" dirty="0"/>
              <a:t># Can be done standalone also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37631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4EEAF-A0F9-FD00-7106-CBBA83DAE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Final Target</a:t>
            </a:r>
            <a:endParaRPr lang="en-US" dirty="0"/>
          </a:p>
        </p:txBody>
      </p:sp>
      <p:pic>
        <p:nvPicPr>
          <p:cNvPr id="1026" name="Picture 2" descr="Example 1: Queries against an Amazon S3 data lake - Big Data Analytics Options on AWS">
            <a:extLst>
              <a:ext uri="{FF2B5EF4-FFF2-40B4-BE49-F238E27FC236}">
                <a16:creationId xmlns:a16="http://schemas.microsoft.com/office/drawing/2014/main" id="{EFC0F3AE-0F72-AB82-AE89-B590E40CAB4B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5631" y="2780506"/>
            <a:ext cx="5588000" cy="2463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53116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0C586-2DE4-7F7B-075B-EC22342F7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S3 Data Lake Creation (Core Storage Layer)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A10B41-3FFF-8DDB-2425-167FD01659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What you did</a:t>
            </a:r>
          </a:p>
          <a:p>
            <a:r>
              <a:rPr lang="en-IN" dirty="0"/>
              <a:t>Created S3 bucket:</a:t>
            </a:r>
            <a:br>
              <a:rPr lang="en-IN" dirty="0"/>
            </a:br>
            <a:r>
              <a:rPr lang="en-IN" dirty="0"/>
              <a:t>👉 analytics-ingested </a:t>
            </a:r>
          </a:p>
          <a:p>
            <a:r>
              <a:rPr lang="en-IN" dirty="0"/>
              <a:t>Designed </a:t>
            </a:r>
            <a:r>
              <a:rPr lang="en-IN" b="1" dirty="0"/>
              <a:t>partitioned storage format</a:t>
            </a:r>
            <a:r>
              <a:rPr lang="en-IN" dirty="0"/>
              <a:t>:</a:t>
            </a:r>
          </a:p>
          <a:p>
            <a:pPr marL="0" indent="0">
              <a:buNone/>
            </a:pPr>
            <a:r>
              <a:rPr lang="en-IN" dirty="0"/>
              <a:t>employees/</a:t>
            </a:r>
            <a:br>
              <a:rPr lang="en-IN" dirty="0"/>
            </a:br>
            <a:r>
              <a:rPr lang="en-IN" dirty="0"/>
              <a:t>  </a:t>
            </a:r>
            <a:r>
              <a:rPr lang="en-IN" dirty="0" err="1"/>
              <a:t>src_date</a:t>
            </a:r>
            <a:r>
              <a:rPr lang="en-IN" dirty="0"/>
              <a:t>=2026-04-09/</a:t>
            </a:r>
            <a:br>
              <a:rPr lang="en-IN" dirty="0"/>
            </a:br>
            <a:r>
              <a:rPr lang="en-IN" dirty="0"/>
              <a:t>      </a:t>
            </a:r>
            <a:r>
              <a:rPr lang="en-IN" dirty="0" err="1"/>
              <a:t>file.parquet</a:t>
            </a:r>
            <a:br>
              <a:rPr lang="en-IN" dirty="0"/>
            </a:br>
            <a:r>
              <a:rPr lang="en-IN" dirty="0"/>
              <a:t>  </a:t>
            </a:r>
            <a:r>
              <a:rPr lang="en-IN" dirty="0" err="1"/>
              <a:t>src_date</a:t>
            </a:r>
            <a:r>
              <a:rPr lang="en-IN" dirty="0"/>
              <a:t>=2026-04-08/</a:t>
            </a:r>
            <a:br>
              <a:rPr lang="en-IN" dirty="0"/>
            </a:br>
            <a:r>
              <a:rPr lang="en-IN" dirty="0"/>
              <a:t>      </a:t>
            </a:r>
            <a:r>
              <a:rPr lang="en-IN" dirty="0" err="1"/>
              <a:t>file.parquet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917763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28259-B4C3-F272-4305-52BE43FB0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A2600E-2D65-E5C1-501F-C5CB6265BA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dirty="0"/>
              <a:t>Why this is important (VERY important concept)</a:t>
            </a:r>
          </a:p>
          <a:p>
            <a:pPr marL="0" indent="0">
              <a:buNone/>
            </a:pPr>
            <a:r>
              <a:rPr lang="en-IN" b="1" dirty="0"/>
              <a:t>        🔹 Partitioning = performance + cost optimization</a:t>
            </a:r>
          </a:p>
          <a:p>
            <a:r>
              <a:rPr lang="en-IN" dirty="0"/>
              <a:t>Without partition:</a:t>
            </a:r>
          </a:p>
          <a:p>
            <a:pPr marL="0" indent="0">
              <a:buNone/>
            </a:pPr>
            <a:r>
              <a:rPr lang="en-IN" dirty="0"/>
              <a:t> SELECT * FROM employees;</a:t>
            </a:r>
          </a:p>
          <a:p>
            <a:r>
              <a:rPr lang="en-IN" dirty="0"/>
              <a:t>👉 scans </a:t>
            </a:r>
            <a:r>
              <a:rPr lang="en-IN" b="1" dirty="0"/>
              <a:t>all data</a:t>
            </a:r>
            <a:endParaRPr lang="en-IN" dirty="0"/>
          </a:p>
          <a:p>
            <a:r>
              <a:rPr lang="en-IN" dirty="0"/>
              <a:t>With partition:</a:t>
            </a:r>
          </a:p>
          <a:p>
            <a:pPr marL="0" indent="0">
              <a:buNone/>
            </a:pPr>
            <a:r>
              <a:rPr lang="en-IN" dirty="0"/>
              <a:t>SELECT * FROM employees WHERE </a:t>
            </a:r>
            <a:r>
              <a:rPr lang="en-IN" dirty="0" err="1"/>
              <a:t>src_date</a:t>
            </a:r>
            <a:r>
              <a:rPr lang="en-IN" dirty="0"/>
              <a:t> = '2026-04-09';</a:t>
            </a:r>
          </a:p>
          <a:p>
            <a:r>
              <a:rPr lang="en-IN" dirty="0"/>
              <a:t>👉 scans </a:t>
            </a:r>
            <a:r>
              <a:rPr lang="en-IN" b="1" dirty="0"/>
              <a:t>only that folder</a:t>
            </a:r>
            <a:endParaRPr lang="en-IN" dirty="0"/>
          </a:p>
          <a:p>
            <a:r>
              <a:rPr lang="en-IN" b="1" dirty="0"/>
              <a:t>Key takeaway</a:t>
            </a:r>
          </a:p>
          <a:p>
            <a:r>
              <a:rPr lang="en-IN" dirty="0"/>
              <a:t>S3 is not just storage → it is your data lake</a:t>
            </a:r>
            <a:br>
              <a:rPr lang="en-IN" dirty="0"/>
            </a:br>
            <a:r>
              <a:rPr lang="en-IN" dirty="0"/>
              <a:t>Folder structure = database partitioning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874488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502DC2-A358-92C3-49C4-2FF2A80BE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Glue Crawler (Metadata Layer)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141532-0939-5176-DAB3-CBCC6D9F04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/>
              <a:t>Step 1:</a:t>
            </a:r>
          </a:p>
          <a:p>
            <a:pPr marL="0" indent="0">
              <a:buNone/>
            </a:pPr>
            <a:r>
              <a:rPr lang="en-IN" dirty="0"/>
              <a:t>Create an IAM role with below policies</a:t>
            </a:r>
          </a:p>
          <a:p>
            <a:r>
              <a:rPr lang="en-IN" dirty="0" err="1"/>
              <a:t>AWSGlueServiceRole</a:t>
            </a:r>
            <a:r>
              <a:rPr lang="en-IN" dirty="0"/>
              <a:t> and </a:t>
            </a:r>
            <a:r>
              <a:rPr lang="en-IN" dirty="0">
                <a:hlinkClick r:id="rId2"/>
              </a:rPr>
              <a:t>AmazonS3ReadOnlyAccess</a:t>
            </a:r>
            <a:endParaRPr lang="en-IN" dirty="0"/>
          </a:p>
          <a:p>
            <a:r>
              <a:rPr lang="en-IN" dirty="0"/>
              <a:t>Permissions: </a:t>
            </a:r>
          </a:p>
          <a:p>
            <a:pPr lvl="1"/>
            <a:r>
              <a:rPr lang="en-IN" dirty="0"/>
              <a:t>Read S3 </a:t>
            </a:r>
          </a:p>
          <a:p>
            <a:pPr lvl="1"/>
            <a:r>
              <a:rPr lang="en-IN" dirty="0"/>
              <a:t>Write metadata</a:t>
            </a:r>
          </a:p>
          <a:p>
            <a:pPr marL="0" indent="0">
              <a:buNone/>
            </a:pPr>
            <a:r>
              <a:rPr lang="en-IN" b="1" dirty="0"/>
              <a:t>Step 2: </a:t>
            </a:r>
          </a:p>
          <a:p>
            <a:pPr marL="0" indent="0">
              <a:buNone/>
            </a:pPr>
            <a:r>
              <a:rPr lang="en-IN" dirty="0"/>
              <a:t>Create a glue crawler with the role created.</a:t>
            </a:r>
          </a:p>
        </p:txBody>
      </p:sp>
    </p:spTree>
    <p:extLst>
      <p:ext uri="{BB962C8B-B14F-4D97-AF65-F5344CB8AC3E}">
        <p14:creationId xmlns:p14="http://schemas.microsoft.com/office/powerpoint/2010/main" val="39604986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E0EAC-1D83-0D74-DE8B-FC9F0E327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81FDF1-0CA2-2F46-A176-CFC6683FF4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/>
              <a:t>Step 3:</a:t>
            </a:r>
          </a:p>
          <a:p>
            <a:pPr marL="0" indent="0">
              <a:buNone/>
            </a:pPr>
            <a:r>
              <a:rPr lang="en-IN" dirty="0"/>
              <a:t>✔ Choose Data source</a:t>
            </a:r>
          </a:p>
          <a:p>
            <a:r>
              <a:rPr lang="en-IN" dirty="0"/>
              <a:t>S3 path → s3://analytics-ingested/employees/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Step 4:</a:t>
            </a:r>
          </a:p>
          <a:p>
            <a:pPr marL="0" indent="0">
              <a:buNone/>
            </a:pPr>
            <a:r>
              <a:rPr lang="en-US" dirty="0"/>
              <a:t>Run the glue crawler manually.</a:t>
            </a: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dirty="0"/>
              <a:t>Output:</a:t>
            </a:r>
          </a:p>
          <a:p>
            <a:pPr marL="0" indent="0">
              <a:buNone/>
            </a:pPr>
            <a:r>
              <a:rPr lang="en-IN" dirty="0"/>
              <a:t>Employees table is created automatically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344921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D7890-E825-5A73-1559-0F6AC5082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What crawler actually does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C7DBC-1645-D8DC-A0D7-E520DB8A34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dirty="0"/>
              <a:t>When you run it:</a:t>
            </a:r>
          </a:p>
          <a:p>
            <a:r>
              <a:rPr lang="en-IN" dirty="0"/>
              <a:t>Reads S3 files </a:t>
            </a:r>
          </a:p>
          <a:p>
            <a:r>
              <a:rPr lang="en-IN" dirty="0"/>
              <a:t>Detects: </a:t>
            </a:r>
          </a:p>
          <a:p>
            <a:pPr lvl="1"/>
            <a:r>
              <a:rPr lang="en-IN" dirty="0"/>
              <a:t>File format → Parquet </a:t>
            </a:r>
          </a:p>
          <a:p>
            <a:pPr lvl="1"/>
            <a:r>
              <a:rPr lang="en-IN" dirty="0"/>
              <a:t>Schema → id, name, salary </a:t>
            </a:r>
          </a:p>
          <a:p>
            <a:r>
              <a:rPr lang="en-IN" dirty="0"/>
              <a:t>Detects partition: </a:t>
            </a:r>
          </a:p>
          <a:p>
            <a:r>
              <a:rPr lang="en-IN" dirty="0" err="1"/>
              <a:t>src_date</a:t>
            </a:r>
            <a:r>
              <a:rPr lang="en-IN" dirty="0"/>
              <a:t>=2026-04-09</a:t>
            </a:r>
          </a:p>
          <a:p>
            <a:r>
              <a:rPr lang="en-IN" dirty="0"/>
              <a:t>Creates: </a:t>
            </a:r>
          </a:p>
          <a:p>
            <a:pPr lvl="1"/>
            <a:r>
              <a:rPr lang="en-IN" dirty="0"/>
              <a:t>Table </a:t>
            </a:r>
          </a:p>
          <a:p>
            <a:pPr lvl="1"/>
            <a:r>
              <a:rPr lang="en-IN" dirty="0"/>
              <a:t>Partition metadata</a:t>
            </a:r>
          </a:p>
          <a:p>
            <a:r>
              <a:rPr lang="en-IN" b="1" dirty="0"/>
              <a:t>🧠 Important concept</a:t>
            </a:r>
          </a:p>
          <a:p>
            <a:r>
              <a:rPr lang="en-IN" dirty="0"/>
              <a:t>Glue DOES NOT move data</a:t>
            </a:r>
            <a:br>
              <a:rPr lang="en-IN" dirty="0"/>
            </a:br>
            <a:r>
              <a:rPr lang="en-IN" dirty="0"/>
              <a:t>Glue only creates metadata (like schema registry)</a:t>
            </a:r>
          </a:p>
          <a:p>
            <a:pPr marL="228600" lvl="1" indent="0">
              <a:buNone/>
            </a:pPr>
            <a:endParaRPr lang="en-IN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3695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03381E-E861-CD72-0CF7-846B7F155C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Athena Query Layer (SQL on S3)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D5D5EC-0A81-1A0D-2084-7FC1B53E6E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IN" b="1" dirty="0"/>
              <a:t>What happens internally</a:t>
            </a:r>
          </a:p>
          <a:p>
            <a:pPr marL="0" indent="0">
              <a:buNone/>
            </a:pPr>
            <a:r>
              <a:rPr lang="en-IN" b="1" dirty="0"/>
              <a:t>Athena:</a:t>
            </a:r>
          </a:p>
          <a:p>
            <a:r>
              <a:rPr lang="en-IN" dirty="0"/>
              <a:t>Reads schema from Glue </a:t>
            </a:r>
          </a:p>
          <a:p>
            <a:r>
              <a:rPr lang="en-IN" dirty="0"/>
              <a:t>Reads files from S3 </a:t>
            </a:r>
          </a:p>
          <a:p>
            <a:r>
              <a:rPr lang="en-IN" dirty="0"/>
              <a:t>Executes query 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b="1" dirty="0"/>
              <a:t>Result we see</a:t>
            </a:r>
          </a:p>
          <a:p>
            <a:r>
              <a:rPr lang="en-IN" dirty="0"/>
              <a:t>Data displayed correctly </a:t>
            </a:r>
          </a:p>
          <a:p>
            <a:r>
              <a:rPr lang="en-IN" dirty="0"/>
              <a:t>Partition column visible (</a:t>
            </a:r>
            <a:r>
              <a:rPr lang="en-IN" dirty="0" err="1"/>
              <a:t>src_date</a:t>
            </a:r>
            <a:r>
              <a:rPr lang="en-IN" dirty="0"/>
              <a:t>)</a:t>
            </a:r>
          </a:p>
          <a:p>
            <a:r>
              <a:rPr lang="en-IN" b="1" dirty="0"/>
              <a:t>🧠 Key concept</a:t>
            </a:r>
          </a:p>
          <a:p>
            <a:r>
              <a:rPr lang="en-IN" dirty="0"/>
              <a:t>Athena = serverless SQL engine on S3</a:t>
            </a:r>
            <a:br>
              <a:rPr lang="en-IN" dirty="0"/>
            </a:br>
            <a:r>
              <a:rPr lang="en-IN" dirty="0"/>
              <a:t>You pay per data scanned</a:t>
            </a:r>
          </a:p>
          <a:p>
            <a:pPr marL="0" indent="0">
              <a:buNone/>
            </a:pPr>
            <a:endParaRPr lang="en-IN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6283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86EA3-F9FF-6987-2DEF-48DAC15CD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Lambda Automation (Event-driven orchestration)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5DE34F-0FF6-9795-C933-8C401A26D4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u="sng" dirty="0"/>
              <a:t>Sample lambda function:</a:t>
            </a:r>
          </a:p>
          <a:p>
            <a:pPr marL="0" indent="0">
              <a:buNone/>
            </a:pPr>
            <a:br>
              <a:rPr lang="en-US" dirty="0"/>
            </a:br>
            <a:r>
              <a:rPr lang="en-IN" dirty="0"/>
              <a:t>import boto3</a:t>
            </a:r>
            <a:br>
              <a:rPr lang="en-IN" dirty="0"/>
            </a:br>
            <a:br>
              <a:rPr lang="en-IN" dirty="0"/>
            </a:br>
            <a:r>
              <a:rPr lang="en-IN" dirty="0"/>
              <a:t>glue = boto3.client('glue')</a:t>
            </a:r>
            <a:br>
              <a:rPr lang="en-IN" dirty="0"/>
            </a:br>
            <a:br>
              <a:rPr lang="en-IN" dirty="0"/>
            </a:br>
            <a:r>
              <a:rPr lang="en-IN" dirty="0"/>
              <a:t>def </a:t>
            </a:r>
            <a:r>
              <a:rPr lang="en-IN" dirty="0" err="1"/>
              <a:t>lambda_handler</a:t>
            </a:r>
            <a:r>
              <a:rPr lang="en-IN" dirty="0"/>
              <a:t>(event, context):</a:t>
            </a:r>
            <a:br>
              <a:rPr lang="en-IN" dirty="0"/>
            </a:br>
            <a:r>
              <a:rPr lang="en-IN" dirty="0"/>
              <a:t>      </a:t>
            </a:r>
            <a:r>
              <a:rPr lang="en-IN" dirty="0" err="1"/>
              <a:t>glue.start_crawler</a:t>
            </a:r>
            <a:r>
              <a:rPr lang="en-IN" dirty="0"/>
              <a:t>(Name="s3-processed-crawler")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295503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E22AA9-09C2-3384-3DA5-44D7A02A9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Automate the glue crawler call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AEF589-5FAA-B623-D182-A515CDB7EE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Trigger configuration – </a:t>
            </a:r>
            <a:r>
              <a:rPr lang="en-IN" dirty="0"/>
              <a:t>Creates a trigger, so that whenever an object is put in</a:t>
            </a:r>
            <a:r>
              <a:rPr lang="en-IN" b="1" dirty="0"/>
              <a:t> “</a:t>
            </a:r>
            <a:r>
              <a:rPr lang="en-IN" dirty="0"/>
              <a:t>analytics-ingested</a:t>
            </a:r>
            <a:r>
              <a:rPr lang="en-IN" b="1" dirty="0"/>
              <a:t>/</a:t>
            </a:r>
            <a:r>
              <a:rPr lang="en-IN" dirty="0"/>
              <a:t>employees/*.parquet”, the lambda function will be triggered,</a:t>
            </a:r>
            <a:endParaRPr lang="en-IN" b="1" dirty="0"/>
          </a:p>
          <a:p>
            <a:r>
              <a:rPr lang="en-IN" dirty="0"/>
              <a:t>S3 → Lambda:</a:t>
            </a:r>
          </a:p>
          <a:p>
            <a:pPr lvl="1"/>
            <a:r>
              <a:rPr lang="en-IN" dirty="0"/>
              <a:t>Bucket: analytics-ingested </a:t>
            </a:r>
          </a:p>
          <a:p>
            <a:pPr lvl="1"/>
            <a:r>
              <a:rPr lang="en-IN" dirty="0"/>
              <a:t>Event: PUT </a:t>
            </a:r>
          </a:p>
          <a:p>
            <a:pPr lvl="1"/>
            <a:r>
              <a:rPr lang="en-IN" dirty="0"/>
              <a:t>Prefix: employees/ </a:t>
            </a:r>
          </a:p>
          <a:p>
            <a:pPr lvl="1"/>
            <a:r>
              <a:rPr lang="en-IN" dirty="0"/>
              <a:t>Suffix: .parquet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301836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83C48-8DD1-A67C-C1C1-CF34B8926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Sample lambda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85AA79-7C7C-8A41-3F32-D5A135FAC8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import boto3</a:t>
            </a:r>
          </a:p>
          <a:p>
            <a:pPr marL="0" indent="0">
              <a:buNone/>
            </a:pPr>
            <a:r>
              <a:rPr lang="en-US" dirty="0"/>
              <a:t>glue = boto3.client('glue')</a:t>
            </a:r>
          </a:p>
          <a:p>
            <a:pPr marL="0" indent="0">
              <a:buNone/>
            </a:pPr>
            <a:r>
              <a:rPr lang="en-US" dirty="0"/>
              <a:t>def </a:t>
            </a:r>
            <a:r>
              <a:rPr lang="en-US" dirty="0" err="1"/>
              <a:t>call_glue_crawler</a:t>
            </a:r>
            <a:r>
              <a:rPr lang="en-US" dirty="0"/>
              <a:t>(event, context):</a:t>
            </a:r>
          </a:p>
          <a:p>
            <a:pPr marL="0" indent="0">
              <a:buNone/>
            </a:pPr>
            <a:r>
              <a:rPr lang="en-US" dirty="0"/>
              <a:t>    </a:t>
            </a:r>
            <a:r>
              <a:rPr lang="en-US" dirty="0" err="1"/>
              <a:t>crawler_name</a:t>
            </a:r>
            <a:r>
              <a:rPr lang="en-US" dirty="0"/>
              <a:t> = "s3-processed-crawler"</a:t>
            </a:r>
          </a:p>
          <a:p>
            <a:pPr marL="0" indent="0">
              <a:buNone/>
            </a:pPr>
            <a:r>
              <a:rPr lang="en-US" dirty="0"/>
              <a:t>    try:</a:t>
            </a:r>
          </a:p>
          <a:p>
            <a:pPr marL="0" indent="0">
              <a:buNone/>
            </a:pPr>
            <a:r>
              <a:rPr lang="en-US" dirty="0"/>
              <a:t>        status = </a:t>
            </a:r>
            <a:r>
              <a:rPr lang="en-US" dirty="0" err="1"/>
              <a:t>glue.get_crawler</a:t>
            </a:r>
            <a:r>
              <a:rPr lang="en-US" dirty="0"/>
              <a:t>(Name=</a:t>
            </a:r>
            <a:r>
              <a:rPr lang="en-US" dirty="0" err="1"/>
              <a:t>crawler_name</a:t>
            </a:r>
            <a:r>
              <a:rPr lang="en-US" dirty="0"/>
              <a:t>)['Crawler']['State']</a:t>
            </a:r>
          </a:p>
          <a:p>
            <a:pPr marL="0" indent="0">
              <a:buNone/>
            </a:pPr>
            <a:r>
              <a:rPr lang="en-US" dirty="0"/>
              <a:t>        if status == 'READY':</a:t>
            </a:r>
          </a:p>
          <a:p>
            <a:pPr marL="0" indent="0">
              <a:buNone/>
            </a:pPr>
            <a:r>
              <a:rPr lang="en-US" dirty="0"/>
              <a:t>            </a:t>
            </a:r>
            <a:r>
              <a:rPr lang="en-US" dirty="0" err="1"/>
              <a:t>glue.start_crawler</a:t>
            </a:r>
            <a:r>
              <a:rPr lang="en-US" dirty="0"/>
              <a:t>(Name=</a:t>
            </a:r>
            <a:r>
              <a:rPr lang="en-US" dirty="0" err="1"/>
              <a:t>crawler_name</a:t>
            </a:r>
            <a:r>
              <a:rPr lang="en-US" dirty="0"/>
              <a:t>)</a:t>
            </a:r>
          </a:p>
          <a:p>
            <a:pPr marL="0" indent="0">
              <a:buNone/>
            </a:pPr>
            <a:r>
              <a:rPr lang="en-US" dirty="0"/>
              <a:t>            print("Crawler started")</a:t>
            </a:r>
          </a:p>
          <a:p>
            <a:pPr marL="0" indent="0">
              <a:buNone/>
            </a:pPr>
            <a:r>
              <a:rPr lang="en-US" dirty="0"/>
              <a:t>        else:</a:t>
            </a:r>
          </a:p>
          <a:p>
            <a:pPr marL="0" indent="0">
              <a:buNone/>
            </a:pPr>
            <a:r>
              <a:rPr lang="en-US" dirty="0"/>
              <a:t>            print("Crawler already running")</a:t>
            </a:r>
          </a:p>
          <a:p>
            <a:pPr marL="0" indent="0">
              <a:buNone/>
            </a:pPr>
            <a:r>
              <a:rPr lang="en-US" dirty="0"/>
              <a:t>    except Exception as e:</a:t>
            </a:r>
          </a:p>
          <a:p>
            <a:pPr marL="0" indent="0">
              <a:buNone/>
            </a:pPr>
            <a:r>
              <a:rPr lang="en-US" dirty="0"/>
              <a:t>        print(</a:t>
            </a:r>
            <a:r>
              <a:rPr lang="en-US" dirty="0" err="1"/>
              <a:t>f"Error</a:t>
            </a:r>
            <a:r>
              <a:rPr lang="en-US" dirty="0"/>
              <a:t>: {str(e)}")</a:t>
            </a:r>
          </a:p>
          <a:p>
            <a:pPr marL="0" indent="0">
              <a:buNone/>
            </a:pPr>
            <a:r>
              <a:rPr lang="en-US" dirty="0"/>
              <a:t>    return {"</a:t>
            </a:r>
            <a:r>
              <a:rPr lang="en-US" dirty="0" err="1"/>
              <a:t>statusCode</a:t>
            </a:r>
            <a:r>
              <a:rPr lang="en-US" dirty="0"/>
              <a:t>": 200}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579645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61819A-2DA2-0F0A-3E6C-7A8E6DB11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EC71A4-D747-5068-0D14-7EF6FE9A16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Flow</a:t>
            </a:r>
          </a:p>
          <a:p>
            <a:r>
              <a:rPr lang="en-IN" dirty="0"/>
              <a:t>New parquet file uploaded</a:t>
            </a:r>
            <a:br>
              <a:rPr lang="en-IN" dirty="0"/>
            </a:br>
            <a:r>
              <a:rPr lang="en-IN" dirty="0"/>
              <a:t>        ↓</a:t>
            </a:r>
            <a:br>
              <a:rPr lang="en-IN" dirty="0"/>
            </a:br>
            <a:r>
              <a:rPr lang="en-IN" dirty="0"/>
              <a:t>S3 event generated</a:t>
            </a:r>
            <a:br>
              <a:rPr lang="en-IN" dirty="0"/>
            </a:br>
            <a:r>
              <a:rPr lang="en-IN" dirty="0"/>
              <a:t>        ↓</a:t>
            </a:r>
            <a:br>
              <a:rPr lang="en-IN" dirty="0"/>
            </a:br>
            <a:r>
              <a:rPr lang="en-IN" dirty="0"/>
              <a:t>Lambda triggered</a:t>
            </a:r>
            <a:br>
              <a:rPr lang="en-IN" dirty="0"/>
            </a:br>
            <a:r>
              <a:rPr lang="en-IN" dirty="0"/>
              <a:t>        ↓</a:t>
            </a:r>
            <a:br>
              <a:rPr lang="en-IN" dirty="0"/>
            </a:br>
            <a:r>
              <a:rPr lang="en-IN" dirty="0"/>
              <a:t>Glue crawler started</a:t>
            </a:r>
          </a:p>
          <a:p>
            <a:r>
              <a:rPr lang="en-IN" b="1" dirty="0"/>
              <a:t>🧠 Key concept</a:t>
            </a:r>
          </a:p>
          <a:p>
            <a:r>
              <a:rPr lang="en-IN" dirty="0"/>
              <a:t>Lambda = works as a connection between services (event-driven compute)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664674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DD394-8B7D-D5A0-B89E-18594DD540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End-to-End Automated Flow</a:t>
            </a:r>
            <a:br>
              <a:rPr lang="en-IN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BB4714-DB9E-764D-8882-F37B5DD37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dirty="0"/>
              <a:t>Full pipeline now:</a:t>
            </a:r>
          </a:p>
          <a:p>
            <a:r>
              <a:rPr lang="en-IN" dirty="0"/>
              <a:t>SFTP</a:t>
            </a:r>
            <a:br>
              <a:rPr lang="en-IN" dirty="0"/>
            </a:br>
            <a:r>
              <a:rPr lang="en-IN" dirty="0"/>
              <a:t>  ↓</a:t>
            </a:r>
            <a:br>
              <a:rPr lang="en-IN" dirty="0"/>
            </a:br>
            <a:r>
              <a:rPr lang="en-IN" dirty="0"/>
              <a:t>EC2 (Python job)</a:t>
            </a:r>
            <a:br>
              <a:rPr lang="en-IN" dirty="0"/>
            </a:br>
            <a:r>
              <a:rPr lang="en-IN" dirty="0"/>
              <a:t>  ↓</a:t>
            </a:r>
            <a:br>
              <a:rPr lang="en-IN" dirty="0"/>
            </a:br>
            <a:r>
              <a:rPr lang="en-IN" dirty="0"/>
              <a:t>S3 (partitioned parquet)</a:t>
            </a:r>
            <a:br>
              <a:rPr lang="en-IN" dirty="0"/>
            </a:br>
            <a:r>
              <a:rPr lang="en-IN" dirty="0"/>
              <a:t>  ↓</a:t>
            </a:r>
            <a:br>
              <a:rPr lang="en-IN" dirty="0"/>
            </a:br>
            <a:r>
              <a:rPr lang="en-IN" dirty="0"/>
              <a:t>S3 event trigger</a:t>
            </a:r>
            <a:br>
              <a:rPr lang="en-IN" dirty="0"/>
            </a:br>
            <a:r>
              <a:rPr lang="en-IN" dirty="0"/>
              <a:t>  ↓</a:t>
            </a:r>
            <a:br>
              <a:rPr lang="en-IN" dirty="0"/>
            </a:br>
            <a:r>
              <a:rPr lang="en-IN" dirty="0"/>
              <a:t>Lambda</a:t>
            </a:r>
            <a:br>
              <a:rPr lang="en-IN" dirty="0"/>
            </a:br>
            <a:r>
              <a:rPr lang="en-IN" dirty="0"/>
              <a:t>  ↓</a:t>
            </a:r>
            <a:br>
              <a:rPr lang="en-IN" dirty="0"/>
            </a:br>
            <a:r>
              <a:rPr lang="en-IN" dirty="0"/>
              <a:t>Glue crawler</a:t>
            </a:r>
            <a:br>
              <a:rPr lang="en-IN" dirty="0"/>
            </a:br>
            <a:r>
              <a:rPr lang="en-IN" dirty="0"/>
              <a:t>  ↓</a:t>
            </a:r>
            <a:br>
              <a:rPr lang="en-IN" dirty="0"/>
            </a:br>
            <a:r>
              <a:rPr lang="en-IN" dirty="0"/>
              <a:t>Glue </a:t>
            </a:r>
            <a:r>
              <a:rPr lang="en-IN" dirty="0" err="1"/>
              <a:t>catalog</a:t>
            </a:r>
            <a:r>
              <a:rPr lang="en-IN" dirty="0"/>
              <a:t> updated</a:t>
            </a:r>
            <a:br>
              <a:rPr lang="en-IN" dirty="0"/>
            </a:br>
            <a:r>
              <a:rPr lang="en-IN" dirty="0"/>
              <a:t>  ↓</a:t>
            </a:r>
            <a:br>
              <a:rPr lang="en-IN" dirty="0"/>
            </a:br>
            <a:r>
              <a:rPr lang="en-IN" dirty="0"/>
              <a:t>Athena ready to query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02018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F548BE-E207-580B-558A-EE9856B26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C08C80-1577-2ECB-B828-5293B24139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dirty="0"/>
              <a:t>Multiple crawler runs</a:t>
            </a:r>
          </a:p>
          <a:p>
            <a:pPr lvl="1"/>
            <a:r>
              <a:rPr lang="en-IN" dirty="0"/>
              <a:t>Every file triggers Lambda → crawler </a:t>
            </a:r>
          </a:p>
          <a:p>
            <a:pPr lvl="1"/>
            <a:r>
              <a:rPr lang="en-IN" dirty="0"/>
              <a:t>Inefficient (but okay for now)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Next steps:</a:t>
            </a:r>
          </a:p>
          <a:p>
            <a:pPr marL="0" indent="0">
              <a:buNone/>
            </a:pPr>
            <a:r>
              <a:rPr lang="en-US" dirty="0"/>
              <a:t>1. Diff between </a:t>
            </a:r>
          </a:p>
          <a:p>
            <a:pPr marL="228600" lvl="1" indent="0">
              <a:buNone/>
            </a:pPr>
            <a:r>
              <a:rPr lang="en-US" dirty="0"/>
              <a:t>Run only the Glue –partition adder instead of glue crawler vs </a:t>
            </a:r>
            <a:r>
              <a:rPr lang="en-IN" dirty="0"/>
              <a:t>Remove crawler → use partition projection (advanced)?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2. Run glue crawler only after the batch job(multiple files) is completed</a:t>
            </a:r>
          </a:p>
        </p:txBody>
      </p:sp>
    </p:spTree>
    <p:extLst>
      <p:ext uri="{BB962C8B-B14F-4D97-AF65-F5344CB8AC3E}">
        <p14:creationId xmlns:p14="http://schemas.microsoft.com/office/powerpoint/2010/main" val="406980739"/>
      </p:ext>
    </p:extLst>
  </p:cSld>
  <p:clrMapOvr>
    <a:masterClrMapping/>
  </p:clrMapOvr>
</p:sld>
</file>

<file path=ppt/theme/theme1.xml><?xml version="1.0" encoding="utf-8"?>
<a:theme xmlns:a="http://schemas.openxmlformats.org/drawingml/2006/main" name="Helena">
  <a:themeElements>
    <a:clrScheme name="Helen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elena" id="{83D43F4A-02D5-42AD-9542-27487597C212}" vid="{14154C61-C2E2-42F2-9833-4EC39495D4C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8949</TotalTime>
  <Words>1967</Words>
  <Application>Microsoft Macintosh PowerPoint</Application>
  <PresentationFormat>Widescreen</PresentationFormat>
  <Paragraphs>262</Paragraphs>
  <Slides>39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Neue Haas Grotesk Text Pro</vt:lpstr>
      <vt:lpstr>Helena</vt:lpstr>
      <vt:lpstr>Data Engineering using AWS</vt:lpstr>
      <vt:lpstr>Getting the Infra ready</vt:lpstr>
      <vt:lpstr>🧱 1️⃣ Local → EC2-1 (SFTP server) </vt:lpstr>
      <vt:lpstr>🧱 2️⃣ Local → EC2-2 (Ingestion server) </vt:lpstr>
      <vt:lpstr>🧱 3️⃣ Copy key.pem → EC2-2 (VERY IMPORTANT)</vt:lpstr>
      <vt:lpstr>🧱 4️⃣ Set permissions on EC2-2</vt:lpstr>
      <vt:lpstr>🧱 5️⃣ EC2-2 → EC2-1 (SSH test)</vt:lpstr>
      <vt:lpstr>🧠 Best practice (recommended)</vt:lpstr>
      <vt:lpstr>🏗️ Final connectivity</vt:lpstr>
      <vt:lpstr>Prepare SFTP data (EC2-1)</vt:lpstr>
      <vt:lpstr>Setup MySQL (EC2-2)</vt:lpstr>
      <vt:lpstr>🧱 Install Python libs (EC2-2)</vt:lpstr>
      <vt:lpstr>Create ingestion script (EC2-2)</vt:lpstr>
      <vt:lpstr>Run pipeline</vt:lpstr>
      <vt:lpstr>Verify data: Very Important Step in Data Engineering</vt:lpstr>
      <vt:lpstr>Querying through MySQL tool(Mac)</vt:lpstr>
      <vt:lpstr>🧱 STEP-BY-STEP: CloudWatch Logging Integration</vt:lpstr>
      <vt:lpstr>✅ Step 1: Install required libraries (EC2)</vt:lpstr>
      <vt:lpstr>✅ Step 2: Add logging in your Python script</vt:lpstr>
      <vt:lpstr>✅ Step 3: Create IAM Role (CRITICAL)</vt:lpstr>
      <vt:lpstr>✅ Step 4: Attach IAM Role to EC2</vt:lpstr>
      <vt:lpstr>✅ Step 5: Run the pipeline and verify the logs</vt:lpstr>
      <vt:lpstr>CloudWatch → Alarm → SNS → Email Step A: Send logs from EC2 → CloudWatch </vt:lpstr>
      <vt:lpstr>🔹 Step 2: Create Metric Filter</vt:lpstr>
      <vt:lpstr>🔹 Step 3: Create Alarm</vt:lpstr>
      <vt:lpstr>🔹 Step 3: Create SNS Topic  </vt:lpstr>
      <vt:lpstr>Final Target</vt:lpstr>
      <vt:lpstr>S3 Data Lake Creation (Core Storage Layer)</vt:lpstr>
      <vt:lpstr>PowerPoint Presentation</vt:lpstr>
      <vt:lpstr>Glue Crawler (Metadata Layer)</vt:lpstr>
      <vt:lpstr>PowerPoint Presentation</vt:lpstr>
      <vt:lpstr>What crawler actually does</vt:lpstr>
      <vt:lpstr>Athena Query Layer (SQL on S3)</vt:lpstr>
      <vt:lpstr>Lambda Automation (Event-driven orchestration)</vt:lpstr>
      <vt:lpstr>Automate the glue crawler call</vt:lpstr>
      <vt:lpstr>Sample lambda code</vt:lpstr>
      <vt:lpstr>PowerPoint Presentation</vt:lpstr>
      <vt:lpstr>End-to-End Automated Flow </vt:lpstr>
      <vt:lpstr>Next Step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sabyasachi.some</dc:creator>
  <cp:lastModifiedBy>Microsoft Office User</cp:lastModifiedBy>
  <cp:revision>91</cp:revision>
  <dcterms:created xsi:type="dcterms:W3CDTF">2026-03-31T11:03:38Z</dcterms:created>
  <dcterms:modified xsi:type="dcterms:W3CDTF">2026-04-20T08:22:12Z</dcterms:modified>
</cp:coreProperties>
</file>