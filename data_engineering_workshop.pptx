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287" r:id="rId33"/>
    <p:sldId id="288" r:id="rId34"/>
    <p:sldId id="289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58"/>
  </p:normalViewPr>
  <p:slideViewPr>
    <p:cSldViewPr snapToGrid="0">
      <p:cViewPr>
        <p:scale>
          <a:sx n="90" d="100"/>
          <a:sy n="90" d="100"/>
        </p:scale>
        <p:origin x="204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7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5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6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9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8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1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94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3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4/11/26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3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2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82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31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08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4/11/26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78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4/11/26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85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47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4/11/26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60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30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4/11/26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87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280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4/11/26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19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4/11/26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215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4/11/26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823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147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56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454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345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0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043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50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627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247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02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79920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9031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2400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8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4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277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3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290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821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794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703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406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21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62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ubuntu@3.81.26.116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us-east-1.console.aws.amazon.com/iam/home?region=us-east-1#/policies/details/arn%3Aaws%3Aiam%3A%3Aaws%3Apolicy%2FAmazonS3ReadOnlyAcces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B3DE-63C4-9181-FAA5-B63F0F83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dirty="0"/>
              <a:t>Data Engineering using AWS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1EBD0-44A7-89A7-A619-95F5E537E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Building Data Engineering Pipelines leveraging AWS Infrastructure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F2A36D7-F0AD-9113-E8B2-54A4813CBE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9326" b="19326"/>
          <a:stretch>
            <a:fillRect/>
          </a:stretch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9206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B6F4-E54D-8DC0-AB3C-BBA7E6AA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Infra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E0C8-2E3E-1FD7-9E1F-6080E900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EC2-1 (SFTP) IP = &lt;EC2_1_IP&gt;</a:t>
            </a:r>
            <a:br>
              <a:rPr lang="en-IN" dirty="0"/>
            </a:br>
            <a:r>
              <a:rPr lang="en-IN" dirty="0"/>
              <a:t>EC2-2 (Ingest) IP = &lt;EC2_2_IP&gt;</a:t>
            </a:r>
            <a:br>
              <a:rPr lang="en-IN" dirty="0"/>
            </a:br>
            <a:r>
              <a:rPr lang="en-IN" dirty="0"/>
              <a:t>Key file = </a:t>
            </a:r>
            <a:r>
              <a:rPr lang="en-IN" dirty="0" err="1"/>
              <a:t>key.pem</a:t>
            </a:r>
            <a:br>
              <a:rPr lang="en-IN" dirty="0"/>
            </a:br>
            <a:r>
              <a:rPr lang="en-IN" dirty="0"/>
              <a:t>User (Ubuntu) = ubuntu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25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5E61-F39A-E529-18B9-883DB9AA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1️⃣ Local → EC2-1 (SFTP server)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03D2-B7C7-9547-FCBD-A66FF555E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your laptop:</a:t>
            </a:r>
          </a:p>
          <a:p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ubuntu@&lt;EC2_1_IP&gt;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33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D5D3-EEC3-8075-AA90-2D164089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2️⃣ Local → EC2-2 (Ingestion server)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D773-3262-5A3B-3ADC-89A470E3A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ubuntu@&lt;EC2_2_IP&gt;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52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EA43-5404-5301-E334-ACD90195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3️⃣ Copy </a:t>
            </a:r>
            <a:r>
              <a:rPr lang="en-IN" dirty="0" err="1"/>
              <a:t>key.pem</a:t>
            </a:r>
            <a:r>
              <a:rPr lang="en-IN" dirty="0"/>
              <a:t> → EC2-2 (VERY IMPORTANT)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C5C3-4B3D-1915-1E1D-01B12AA8B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scp</a:t>
            </a:r>
            <a:r>
              <a:rPr lang="en-IN" dirty="0"/>
              <a:t>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ubuntu@&lt;EC2_2_IP&gt;:/home/ubuntu/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1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6E57-DAE0-E20D-150C-FE715F2C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4️⃣ Set permissions on EC2-2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0A5B-4E01-E25A-CCE5-FDEBB1D7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SSH into EC2-2 first:</a:t>
            </a:r>
          </a:p>
          <a:p>
            <a:pPr marL="0" indent="0">
              <a:buNone/>
            </a:pPr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ubuntu@&lt;EC2_2_IP&gt;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Then:</a:t>
            </a:r>
          </a:p>
          <a:p>
            <a:pPr marL="0" indent="0">
              <a:buNone/>
            </a:pPr>
            <a:r>
              <a:rPr lang="en-IN" dirty="0" err="1"/>
              <a:t>chmod</a:t>
            </a:r>
            <a:r>
              <a:rPr lang="en-IN" dirty="0"/>
              <a:t> 400 </a:t>
            </a:r>
            <a:r>
              <a:rPr lang="en-IN" dirty="0" err="1"/>
              <a:t>key.pem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56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FA2A-C0C7-C1F8-57E0-14680C4F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5️⃣ EC2-2 → EC2-1 (SSH test)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21A2-DF12-3A32-CE75-6333C53E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🧱 5️⃣ EC2-2 → EC2-1 (SSH test)</a:t>
            </a:r>
          </a:p>
          <a:p>
            <a:pPr marL="0" indent="0">
              <a:buNone/>
            </a:pPr>
            <a:r>
              <a:rPr lang="en-IN" dirty="0"/>
              <a:t>First time it will ask:</a:t>
            </a:r>
          </a:p>
          <a:p>
            <a:r>
              <a:rPr lang="en-IN" dirty="0"/>
              <a:t>Are you sure you want to continue connecting (yes/no)?</a:t>
            </a:r>
          </a:p>
          <a:p>
            <a:pPr marL="0" indent="0">
              <a:buNone/>
            </a:pPr>
            <a:r>
              <a:rPr lang="en-IN" dirty="0"/>
              <a:t>Type: yes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55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728E-5C68-D118-9177-9C7A8A90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Best practice (recommended)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8AA8-A17F-F490-BBF9-AC100062D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ubuntu@&lt;EC2_1_PRIVATE_IP&gt;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402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31EF-CF97-6BE7-7698-D7FA78AC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🏗️ Final connectivity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DC9E-1549-3CEA-BD6F-725F09B1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Local</a:t>
            </a:r>
            <a:br>
              <a:rPr lang="en-IN" dirty="0"/>
            </a:br>
            <a:r>
              <a:rPr lang="en-IN" dirty="0"/>
              <a:t>├── SSH → EC2-1 ✅</a:t>
            </a:r>
            <a:br>
              <a:rPr lang="en-IN" dirty="0"/>
            </a:br>
            <a:r>
              <a:rPr lang="en-IN" dirty="0"/>
              <a:t>└── SSH → EC2-2 ✅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EC2-2</a:t>
            </a:r>
            <a:br>
              <a:rPr lang="en-IN" dirty="0"/>
            </a:br>
            <a:r>
              <a:rPr lang="en-IN" dirty="0"/>
              <a:t>└── SSH → EC2-1 ✅</a:t>
            </a:r>
          </a:p>
          <a:p>
            <a:r>
              <a:rPr lang="en-IN" dirty="0"/>
              <a:t>What you’ve completed</a:t>
            </a:r>
          </a:p>
          <a:p>
            <a:r>
              <a:rPr lang="en-IN" dirty="0"/>
              <a:t>✔ EC2-1 (SFTP) ready</a:t>
            </a:r>
            <a:br>
              <a:rPr lang="en-IN" dirty="0"/>
            </a:br>
            <a:r>
              <a:rPr lang="en-IN" dirty="0"/>
              <a:t>✔ EC2-2 (Ingestion + MySQL) ready</a:t>
            </a:r>
            <a:br>
              <a:rPr lang="en-IN" dirty="0"/>
            </a:br>
            <a:r>
              <a:rPr lang="en-IN" dirty="0"/>
              <a:t>✔ SSH working:</a:t>
            </a:r>
            <a:br>
              <a:rPr lang="en-IN" dirty="0"/>
            </a:br>
            <a:r>
              <a:rPr lang="en-IN" dirty="0"/>
              <a:t>local → EC2-1</a:t>
            </a:r>
            <a:br>
              <a:rPr lang="en-IN" dirty="0"/>
            </a:br>
            <a:r>
              <a:rPr lang="en-IN" dirty="0"/>
              <a:t>local → EC2-2</a:t>
            </a:r>
            <a:br>
              <a:rPr lang="en-IN" dirty="0"/>
            </a:br>
            <a:r>
              <a:rPr lang="en-IN" dirty="0"/>
              <a:t>EC2-2 → EC2-1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C216-D789-2227-426B-6554AFB0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Prepare SFTP data (EC2-1)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AB22-FBB2-58D6-EEB5-5698A23E3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SSH into EC2-1:</a:t>
            </a:r>
          </a:p>
          <a:p>
            <a:pPr marL="0" indent="0">
              <a:buNone/>
            </a:pPr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ubuntu@&lt;EC2_1_IP&gt;</a:t>
            </a:r>
          </a:p>
          <a:p>
            <a:r>
              <a:rPr lang="en-IN" dirty="0"/>
              <a:t>Create folder:</a:t>
            </a:r>
          </a:p>
          <a:p>
            <a:pPr marL="0" indent="0">
              <a:buNone/>
            </a:pPr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ubuntu@&lt;EC2_1_IP&gt;</a:t>
            </a:r>
          </a:p>
          <a:p>
            <a:r>
              <a:rPr lang="en-IN" dirty="0"/>
              <a:t>Create folder:</a:t>
            </a:r>
          </a:p>
          <a:p>
            <a:pPr marL="0" indent="0">
              <a:buNone/>
            </a:pPr>
            <a:r>
              <a:rPr lang="en-IN" dirty="0" err="1"/>
              <a:t>mkdir</a:t>
            </a:r>
            <a:r>
              <a:rPr lang="en-IN" dirty="0"/>
              <a:t> -p ~/sftp-drop</a:t>
            </a:r>
          </a:p>
          <a:p>
            <a:pPr marL="0" indent="0">
              <a:buNone/>
            </a:pPr>
            <a:r>
              <a:rPr lang="en-IN" dirty="0"/>
              <a:t>echo "</a:t>
            </a:r>
            <a:r>
              <a:rPr lang="en-IN" dirty="0" err="1"/>
              <a:t>id,name,salary</a:t>
            </a:r>
            <a:r>
              <a:rPr lang="en-IN" dirty="0"/>
              <a:t>" &gt; ~/sftp-drop/</a:t>
            </a:r>
            <a:r>
              <a:rPr lang="en-IN" dirty="0" err="1"/>
              <a:t>hr_data.csv</a:t>
            </a:r>
            <a:br>
              <a:rPr lang="en-IN" dirty="0"/>
            </a:br>
            <a:r>
              <a:rPr lang="en-IN" dirty="0"/>
              <a:t>echo "1,John,50000" &gt;&gt; ~/sftp-drop/</a:t>
            </a:r>
            <a:r>
              <a:rPr lang="en-IN" dirty="0" err="1"/>
              <a:t>hr_data.csv</a:t>
            </a:r>
            <a:br>
              <a:rPr lang="en-IN" dirty="0"/>
            </a:br>
            <a:r>
              <a:rPr lang="en-IN" dirty="0"/>
              <a:t>echo "2,Sarah,60000" &gt;&gt; ~/sftp-drop/</a:t>
            </a:r>
            <a:r>
              <a:rPr lang="en-IN" dirty="0" err="1"/>
              <a:t>hr_data.csv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36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BD97-E556-0B9A-AE3A-B9CBFBB2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 MySQL (EC2-2)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161E-45D6-D271-58FE-E06B9C343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sz="2500" b="1" u="sng" dirty="0"/>
              <a:t>SSH into EC2-2:</a:t>
            </a:r>
          </a:p>
          <a:p>
            <a:pPr marL="0" indent="0">
              <a:buNone/>
            </a:pPr>
            <a:r>
              <a:rPr lang="en-IN" dirty="0"/>
              <a:t>ssh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key.pem</a:t>
            </a:r>
            <a:r>
              <a:rPr lang="en-IN" dirty="0"/>
              <a:t> ubuntu@&lt;EC2_2_IP&gt;</a:t>
            </a:r>
          </a:p>
          <a:p>
            <a:r>
              <a:rPr lang="en-IN" sz="3000" b="1" u="sng" dirty="0"/>
              <a:t>Start MySQL</a:t>
            </a:r>
          </a:p>
          <a:p>
            <a:pPr marL="0" indent="0">
              <a:buNone/>
            </a:pP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mysql</a:t>
            </a:r>
            <a:endParaRPr lang="en-IN" dirty="0"/>
          </a:p>
          <a:p>
            <a:r>
              <a:rPr lang="en-IN" sz="3000" b="1" u="sng" dirty="0"/>
              <a:t>Create DB + user</a:t>
            </a:r>
          </a:p>
          <a:p>
            <a:pPr marL="0" indent="0">
              <a:buNone/>
            </a:pPr>
            <a:r>
              <a:rPr lang="en-IN" dirty="0"/>
              <a:t>CREATE DATABASE </a:t>
            </a:r>
            <a:r>
              <a:rPr lang="en-IN" dirty="0" err="1"/>
              <a:t>data_engineering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CREATE USER '</a:t>
            </a:r>
            <a:r>
              <a:rPr lang="en-IN" dirty="0" err="1"/>
              <a:t>de_user'@'localhost</a:t>
            </a:r>
            <a:r>
              <a:rPr lang="en-IN" dirty="0"/>
              <a:t>' IDENTIFIED BY '</a:t>
            </a:r>
            <a:r>
              <a:rPr lang="en-IN" dirty="0" err="1"/>
              <a:t>de_password</a:t>
            </a:r>
            <a:r>
              <a:rPr lang="en-IN" dirty="0"/>
              <a:t>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GRANT ALL PRIVILEGES ON </a:t>
            </a:r>
            <a:r>
              <a:rPr lang="en-IN" dirty="0" err="1"/>
              <a:t>data_engineering</a:t>
            </a:r>
            <a:r>
              <a:rPr lang="en-IN" dirty="0"/>
              <a:t>.* TO '</a:t>
            </a:r>
            <a:r>
              <a:rPr lang="en-IN" dirty="0" err="1"/>
              <a:t>de_user'@'localhost</a:t>
            </a:r>
            <a:r>
              <a:rPr lang="en-IN" dirty="0"/>
              <a:t>';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FLUSH PRIVILEGES;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3000" b="1" u="sng" dirty="0"/>
              <a:t>Create table</a:t>
            </a:r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dirty="0" err="1"/>
              <a:t>data_engineering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CREATE TABLE employees (</a:t>
            </a:r>
            <a:br>
              <a:rPr lang="en-IN" dirty="0"/>
            </a:br>
            <a:r>
              <a:rPr lang="en-IN" dirty="0"/>
              <a:t>id INT,</a:t>
            </a:r>
            <a:br>
              <a:rPr lang="en-IN" dirty="0"/>
            </a:br>
            <a:r>
              <a:rPr lang="en-IN" dirty="0"/>
              <a:t>name VARCHAR(100),</a:t>
            </a:r>
            <a:br>
              <a:rPr lang="en-IN" dirty="0"/>
            </a:br>
            <a:r>
              <a:rPr lang="en-IN" dirty="0"/>
              <a:t>salary INT</a:t>
            </a:r>
            <a:br>
              <a:rPr lang="en-IN" dirty="0"/>
            </a:b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exit;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7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FBE15-CCAF-1D0B-3FC4-FA5E3291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Install Python libs (EC2-2)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09BF-8566-9E0D-E011-E1CFBAA55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Use below command to install dependencies now:</a:t>
            </a:r>
          </a:p>
          <a:p>
            <a:r>
              <a:rPr lang="en-IN" dirty="0"/>
              <a:t>pip3 install </a:t>
            </a:r>
            <a:r>
              <a:rPr lang="en-IN" dirty="0" err="1"/>
              <a:t>paramiko</a:t>
            </a:r>
            <a:r>
              <a:rPr lang="en-IN" dirty="0"/>
              <a:t> pandas </a:t>
            </a:r>
            <a:r>
              <a:rPr lang="en-IN" dirty="0" err="1"/>
              <a:t>pymysql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Ubuntu now </a:t>
            </a:r>
            <a:r>
              <a:rPr lang="en-IN" b="1" dirty="0"/>
              <a:t>blocks global pip installs</a:t>
            </a:r>
            <a:r>
              <a:rPr lang="en-IN" dirty="0"/>
              <a:t> to protect system Python.</a:t>
            </a:r>
          </a:p>
          <a:p>
            <a:pPr marL="0" indent="0">
              <a:buNone/>
            </a:pPr>
            <a:r>
              <a:rPr lang="en-IN" dirty="0"/>
              <a:t>Because System Python is managed by OS (apt), hence to prevent pip install breaking system packages used by OS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Alternative resolutions: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    1. </a:t>
            </a:r>
            <a:r>
              <a:rPr lang="en-IN" b="1" dirty="0"/>
              <a:t>Use Virtual Environment (</a:t>
            </a:r>
            <a:r>
              <a:rPr lang="en-IN" b="1" dirty="0" err="1"/>
              <a:t>venv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IN" dirty="0"/>
              <a:t>python3 -m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venv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source </a:t>
            </a:r>
            <a:r>
              <a:rPr lang="en-IN" dirty="0" err="1"/>
              <a:t>venv</a:t>
            </a:r>
            <a:r>
              <a:rPr lang="en-IN" dirty="0"/>
              <a:t>/bin/activate</a:t>
            </a:r>
          </a:p>
          <a:p>
            <a:pPr marL="0" indent="0">
              <a:buNone/>
            </a:pPr>
            <a:r>
              <a:rPr lang="en-IN" dirty="0"/>
              <a:t>source </a:t>
            </a:r>
            <a:r>
              <a:rPr lang="en-IN" dirty="0" err="1"/>
              <a:t>venv</a:t>
            </a:r>
            <a:r>
              <a:rPr lang="en-IN" dirty="0"/>
              <a:t>/bin/activate</a:t>
            </a:r>
          </a:p>
          <a:p>
            <a:pPr marL="0" indent="0">
              <a:buNone/>
            </a:pPr>
            <a:r>
              <a:rPr lang="en-IN" dirty="0"/>
              <a:t>python </a:t>
            </a:r>
            <a:r>
              <a:rPr lang="en-IN" dirty="0" err="1"/>
              <a:t>ingest.py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IN" dirty="0"/>
              <a:t>2. Quick hack: pip install </a:t>
            </a:r>
            <a:r>
              <a:rPr lang="en-IN" dirty="0" err="1"/>
              <a:t>paramiko</a:t>
            </a:r>
            <a:r>
              <a:rPr lang="en-IN" dirty="0"/>
              <a:t> pandas </a:t>
            </a:r>
            <a:r>
              <a:rPr lang="en-IN" dirty="0" err="1"/>
              <a:t>pymysql</a:t>
            </a:r>
            <a:r>
              <a:rPr lang="en-IN" dirty="0"/>
              <a:t> --break-system-packages</a:t>
            </a:r>
            <a:endParaRPr lang="en-IN" b="1" dirty="0"/>
          </a:p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paramiko</a:t>
            </a:r>
            <a:r>
              <a:rPr lang="en-US" dirty="0"/>
              <a:t> pandas </a:t>
            </a:r>
            <a:r>
              <a:rPr lang="en-US" dirty="0" err="1"/>
              <a:t>pymysql</a:t>
            </a:r>
            <a:r>
              <a:rPr lang="en-US" dirty="0"/>
              <a:t> --break-system-packages</a:t>
            </a:r>
          </a:p>
        </p:txBody>
      </p:sp>
    </p:spTree>
    <p:extLst>
      <p:ext uri="{BB962C8B-B14F-4D97-AF65-F5344CB8AC3E}">
        <p14:creationId xmlns:p14="http://schemas.microsoft.com/office/powerpoint/2010/main" val="496543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0482-FA7A-68EB-E6A7-1213BF8D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ingestion script (EC2-2)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E9BA0-5B89-1004-8492-604481ED4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27" y="1118937"/>
            <a:ext cx="10760900" cy="5190423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0D19A7-6240-DB65-669B-B88F6BC0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1114769"/>
            <a:ext cx="6136105" cy="55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4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D43F-B8C7-C961-BB57-2D8BBD5F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CB6F-C6AC-289F-EF7E-7190DCA03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python3 </a:t>
            </a:r>
            <a:r>
              <a:rPr lang="en-IN" dirty="0" err="1"/>
              <a:t>ingest.py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8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9777-9256-987B-4955-2F8FF7CB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data: Very Important Step in Data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FE28-8DD9-4D1E-971B-F942BE66B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//login to ec2-1- sftp server</a:t>
            </a:r>
          </a:p>
          <a:p>
            <a:pPr marL="0" indent="0">
              <a:buNone/>
            </a:pPr>
            <a:r>
              <a:rPr lang="en-US" dirty="0"/>
              <a:t>ssh -</a:t>
            </a:r>
            <a:r>
              <a:rPr lang="en-US" dirty="0" err="1"/>
              <a:t>i</a:t>
            </a:r>
            <a:r>
              <a:rPr lang="en-US" dirty="0"/>
              <a:t> ec2_sftp_keys.pem </a:t>
            </a:r>
            <a:r>
              <a:rPr lang="en-US" dirty="0">
                <a:hlinkClick r:id="rId2"/>
              </a:rPr>
              <a:t>ubuntu@3.81.26.116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//login to </a:t>
            </a:r>
            <a:r>
              <a:rPr lang="en-US" dirty="0" err="1"/>
              <a:t>mysql</a:t>
            </a:r>
            <a:endParaRPr lang="en-US" dirty="0"/>
          </a:p>
          <a:p>
            <a:pPr marL="0" indent="0">
              <a:buNone/>
            </a:pP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mysql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dirty="0" err="1"/>
              <a:t>data_engineering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SELECT * FROM employees;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35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7418-313B-6A80-F9E7-572D8898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through MySQL tool(Mac)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DE486-8A3C-2665-396D-A58117E96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Option 1:  </a:t>
            </a:r>
            <a:r>
              <a:rPr lang="en-IN" u="sng" dirty="0" err="1"/>
              <a:t>Tunneling</a:t>
            </a:r>
            <a:br>
              <a:rPr lang="en-IN" dirty="0"/>
            </a:br>
            <a:r>
              <a:rPr lang="en-US" dirty="0"/>
              <a:t>ssh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key.pem</a:t>
            </a:r>
            <a:r>
              <a:rPr lang="en-US" dirty="0"/>
              <a:t> -L 3307:localhost:3306 ubuntu@&lt;EC2_IP&gt; -N</a:t>
            </a:r>
          </a:p>
          <a:p>
            <a:pPr marL="0" indent="0">
              <a:buNone/>
            </a:pPr>
            <a:r>
              <a:rPr lang="en-IN" dirty="0"/>
              <a:t>Then on your laptop:</a:t>
            </a:r>
            <a:br>
              <a:rPr lang="en-IN" dirty="0"/>
            </a:br>
            <a:r>
              <a:rPr lang="en-US" dirty="0" err="1"/>
              <a:t>mysql</a:t>
            </a:r>
            <a:r>
              <a:rPr lang="en-US" dirty="0"/>
              <a:t> -h 127.0.0.1 -P 3307 -u </a:t>
            </a:r>
            <a:r>
              <a:rPr lang="en-US" dirty="0" err="1"/>
              <a:t>de_user</a:t>
            </a:r>
            <a:r>
              <a:rPr lang="en-US" dirty="0"/>
              <a:t> –p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Option 2: </a:t>
            </a:r>
            <a:r>
              <a:rPr lang="en-IN" u="sng" dirty="0"/>
              <a:t>Use Web-based DB tools </a:t>
            </a:r>
            <a:endParaRPr lang="en-IN" b="1" u="sng" dirty="0"/>
          </a:p>
          <a:p>
            <a:pPr marL="0" indent="0">
              <a:buNone/>
            </a:pPr>
            <a:r>
              <a:rPr lang="en-IN" dirty="0"/>
              <a:t>On EC2 type below commands:</a:t>
            </a:r>
          </a:p>
          <a:p>
            <a:pPr marL="0" indent="0">
              <a:buNone/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php</a:t>
            </a:r>
            <a:r>
              <a:rPr lang="en-IN" dirty="0"/>
              <a:t> </a:t>
            </a:r>
            <a:r>
              <a:rPr lang="en-IN" dirty="0" err="1"/>
              <a:t>php-mysql</a:t>
            </a:r>
            <a:r>
              <a:rPr lang="en-IN" dirty="0"/>
              <a:t> -y</a:t>
            </a:r>
          </a:p>
          <a:p>
            <a:pPr marL="0" indent="0">
              <a:buNone/>
            </a:pPr>
            <a:r>
              <a:rPr lang="en-IN" dirty="0"/>
              <a:t>cd /var/www/html</a:t>
            </a:r>
            <a:br>
              <a:rPr lang="en-IN" dirty="0"/>
            </a:b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wget</a:t>
            </a:r>
            <a:r>
              <a:rPr lang="en-IN" dirty="0"/>
              <a:t> https://</a:t>
            </a:r>
            <a:r>
              <a:rPr lang="en-IN" dirty="0" err="1"/>
              <a:t>www.adminer.org</a:t>
            </a:r>
            <a:r>
              <a:rPr lang="en-IN" dirty="0"/>
              <a:t>/</a:t>
            </a:r>
            <a:r>
              <a:rPr lang="en-IN" dirty="0" err="1"/>
              <a:t>latest.php</a:t>
            </a:r>
            <a:r>
              <a:rPr lang="en-IN" dirty="0"/>
              <a:t> -O </a:t>
            </a:r>
            <a:r>
              <a:rPr lang="en-IN" dirty="0" err="1"/>
              <a:t>adminer.php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Then, open in browser: http://&lt;EC2_IP&gt;/</a:t>
            </a:r>
            <a:r>
              <a:rPr lang="en-IN" dirty="0" err="1"/>
              <a:t>adminer.php</a:t>
            </a:r>
            <a:r>
              <a:rPr lang="en-IN" dirty="0"/>
              <a:t>(credentials in slide 11)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1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1866-4330-AD07-37C9-5C4F3053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STEP-BY-STEP: CloudWatch Logging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E7FD-7E02-FD44-C22A-2ADCADB7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234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8617-3702-DA58-3C43-83925F4B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Step 1: Install required libraries (EC2)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0B28A-15CC-B843-8C7B-2A7EBB85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Below pip install line can be added in ec2 starter script, or run in ec2- server standalone:</a:t>
            </a:r>
          </a:p>
          <a:p>
            <a:pPr marL="0" indent="0">
              <a:buNone/>
            </a:pPr>
            <a:r>
              <a:rPr lang="en-US" dirty="0"/>
              <a:t>pip3 install watchtower boto3 --break-system-packages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Boto3: </a:t>
            </a:r>
            <a:r>
              <a:rPr lang="en-IN" dirty="0"/>
              <a:t>watchtower uses boto3 internally</a:t>
            </a:r>
          </a:p>
          <a:p>
            <a:pPr marL="0" indent="0">
              <a:buNone/>
            </a:pPr>
            <a:r>
              <a:rPr lang="en-US" dirty="0"/>
              <a:t>Shortcut to add region:</a:t>
            </a:r>
          </a:p>
          <a:p>
            <a:pPr marL="0" indent="0">
              <a:buNone/>
            </a:pPr>
            <a:r>
              <a:rPr lang="en-IN" dirty="0"/>
              <a:t>export AWS_DEFAULT_REGION=us-east-1</a:t>
            </a:r>
          </a:p>
          <a:p>
            <a:pPr marL="0" indent="0">
              <a:buNone/>
            </a:pPr>
            <a:r>
              <a:rPr lang="en-US" b="1" dirty="0"/>
              <a:t>Watchtower: </a:t>
            </a:r>
            <a:r>
              <a:rPr lang="en-IN" dirty="0"/>
              <a:t>used for creating the logger in AWS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Alternatively, add below lines to </a:t>
            </a:r>
            <a:r>
              <a:rPr lang="en-IN" dirty="0" err="1"/>
              <a:t>ingest.py</a:t>
            </a:r>
            <a:endParaRPr lang="en-IN" dirty="0"/>
          </a:p>
          <a:p>
            <a:r>
              <a:rPr lang="en-IN" dirty="0"/>
              <a:t>import boto3</a:t>
            </a:r>
          </a:p>
          <a:p>
            <a:r>
              <a:rPr lang="en-IN" dirty="0"/>
              <a:t>boto3.setup_default_session(</a:t>
            </a:r>
            <a:r>
              <a:rPr lang="en-IN" dirty="0" err="1"/>
              <a:t>region_name</a:t>
            </a:r>
            <a:r>
              <a:rPr lang="en-IN" dirty="0"/>
              <a:t>="us-east-1")</a:t>
            </a:r>
          </a:p>
          <a:p>
            <a:pPr marL="0" indent="0">
              <a:buNone/>
            </a:pPr>
            <a:r>
              <a:rPr lang="en-IN" dirty="0"/>
              <a:t>🧠 Why needed?</a:t>
            </a:r>
          </a:p>
          <a:p>
            <a:pPr marL="0" indent="0">
              <a:buNone/>
            </a:pPr>
            <a:r>
              <a:rPr lang="en-US" dirty="0"/>
              <a:t>CloudWatch is region-specific → boto3 needs region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99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3B3B-6492-C804-0082-97386564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Step 2: Add logging in your Python 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10EC-3B66-7747-EF2E-71C10632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Create logger:</a:t>
            </a:r>
          </a:p>
          <a:p>
            <a:pPr marL="0" indent="0">
              <a:buNone/>
            </a:pPr>
            <a:r>
              <a:rPr lang="en-US" dirty="0"/>
              <a:t>from datetime import datetime</a:t>
            </a:r>
          </a:p>
          <a:p>
            <a:pPr marL="0" indent="0">
              <a:buNone/>
            </a:pPr>
            <a:r>
              <a:rPr lang="en-US" dirty="0"/>
              <a:t>import logging</a:t>
            </a:r>
          </a:p>
          <a:p>
            <a:pPr marL="0" indent="0">
              <a:buNone/>
            </a:pPr>
            <a:r>
              <a:rPr lang="en-US" dirty="0"/>
              <a:t>timestamp = </a:t>
            </a:r>
            <a:r>
              <a:rPr lang="en-US" dirty="0" err="1"/>
              <a:t>datetime.now</a:t>
            </a:r>
            <a:r>
              <a:rPr lang="en-US" dirty="0"/>
              <a:t>().</a:t>
            </a:r>
            <a:r>
              <a:rPr lang="en-US" dirty="0" err="1"/>
              <a:t>strftime</a:t>
            </a:r>
            <a:r>
              <a:rPr lang="en-US" dirty="0"/>
              <a:t>("%</a:t>
            </a:r>
            <a:r>
              <a:rPr lang="en-US" dirty="0" err="1"/>
              <a:t>Y%m%d</a:t>
            </a:r>
            <a:r>
              <a:rPr lang="en-US" dirty="0"/>
              <a:t>_%H%M%S")</a:t>
            </a:r>
          </a:p>
          <a:p>
            <a:pPr marL="0" indent="0">
              <a:buNone/>
            </a:pPr>
            <a:r>
              <a:rPr lang="en-US" dirty="0" err="1"/>
              <a:t>log_stream</a:t>
            </a:r>
            <a:r>
              <a:rPr lang="en-US" dirty="0"/>
              <a:t> = </a:t>
            </a:r>
            <a:r>
              <a:rPr lang="en-US" dirty="0" err="1"/>
              <a:t>f”employee_pipeline</a:t>
            </a:r>
            <a:r>
              <a:rPr lang="en-US" dirty="0"/>
              <a:t>_{timestamp}"</a:t>
            </a:r>
          </a:p>
          <a:p>
            <a:pPr marL="0" indent="0">
              <a:buNone/>
            </a:pPr>
            <a:r>
              <a:rPr lang="en-US" dirty="0" err="1"/>
              <a:t>log_group</a:t>
            </a:r>
            <a:r>
              <a:rPr lang="en-US" dirty="0"/>
              <a:t> = "</a:t>
            </a:r>
            <a:r>
              <a:rPr lang="en-US" dirty="0" err="1"/>
              <a:t>data_engineering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logger = </a:t>
            </a:r>
            <a:r>
              <a:rPr lang="en-US" dirty="0" err="1"/>
              <a:t>logging.getLogger</a:t>
            </a:r>
            <a:r>
              <a:rPr lang="en-US" dirty="0"/>
              <a:t>(</a:t>
            </a:r>
            <a:r>
              <a:rPr lang="en-US" dirty="0" err="1"/>
              <a:t>log_stream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logger.setLevel</a:t>
            </a:r>
            <a:r>
              <a:rPr lang="en-US" dirty="0"/>
              <a:t>(</a:t>
            </a:r>
            <a:r>
              <a:rPr lang="en-US" dirty="0" err="1"/>
              <a:t>logging.INFO</a:t>
            </a:r>
            <a:r>
              <a:rPr lang="en-US" dirty="0"/>
              <a:t>)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Add CloudWatch handler:</a:t>
            </a:r>
          </a:p>
          <a:p>
            <a:pPr marL="0" indent="0">
              <a:buNone/>
            </a:pPr>
            <a:r>
              <a:rPr lang="en-IN" dirty="0" err="1"/>
              <a:t>logger.addHandler</a:t>
            </a:r>
            <a:r>
              <a:rPr lang="en-IN" dirty="0"/>
              <a:t>(</a:t>
            </a:r>
            <a:r>
              <a:rPr lang="en-IN" dirty="0" err="1"/>
              <a:t>watchtower.CloudWatchLogHandler</a:t>
            </a:r>
            <a:r>
              <a:rPr lang="en-IN" dirty="0"/>
              <a:t>(</a:t>
            </a:r>
            <a:r>
              <a:rPr lang="en-IN" dirty="0" err="1"/>
              <a:t>log_group</a:t>
            </a:r>
            <a:r>
              <a:rPr lang="en-IN" dirty="0"/>
              <a:t>=</a:t>
            </a:r>
            <a:r>
              <a:rPr lang="en-IN" dirty="0" err="1"/>
              <a:t>log_group</a:t>
            </a:r>
            <a:r>
              <a:rPr lang="en-IN" dirty="0"/>
              <a:t>, </a:t>
            </a:r>
            <a:r>
              <a:rPr lang="en-IN" dirty="0" err="1"/>
              <a:t>stream_name</a:t>
            </a:r>
            <a:r>
              <a:rPr lang="en-IN" dirty="0"/>
              <a:t>=</a:t>
            </a:r>
            <a:r>
              <a:rPr lang="en-IN" dirty="0" err="1"/>
              <a:t>log_stream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 err="1"/>
              <a:t>logger.info</a:t>
            </a:r>
            <a:r>
              <a:rPr lang="en-IN" dirty="0"/>
              <a:t>("Pipeline started")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1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2E2D-0D3A-6B0A-EE68-EF2FA25A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Step 3: Create IAM Role (CRITICAL)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2142-C712-085B-5EC9-59BF80D1C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🔹 Go to IAM → Create Role</a:t>
            </a:r>
          </a:p>
          <a:p>
            <a:r>
              <a:rPr lang="en-IN" dirty="0"/>
              <a:t>Trusted entity type → AWS Service</a:t>
            </a:r>
          </a:p>
          <a:p>
            <a:r>
              <a:rPr lang="en-IN" dirty="0"/>
              <a:t>Use Case → EC2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🔹 Attach policy: </a:t>
            </a:r>
            <a:r>
              <a:rPr lang="en-IN" dirty="0" err="1"/>
              <a:t>CloudWatchAgentServerPolicy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🔹 Name: </a:t>
            </a:r>
            <a:r>
              <a:rPr lang="en-IN" dirty="0"/>
              <a:t>ec2-cloudwatch-role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68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5092-B852-484C-01F6-29B9A0C4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Step 4: Attach IAM Role to EC2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4FF8-964F-EEA7-46B6-2586420C9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Go to:</a:t>
            </a:r>
          </a:p>
          <a:p>
            <a:r>
              <a:rPr lang="en-IN" dirty="0"/>
              <a:t>EC2 → Instance → Actions → Security → Modify IAM Role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Select: ec2-cloudwatch-role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🧠 Why needed?</a:t>
            </a:r>
          </a:p>
          <a:p>
            <a:r>
              <a:rPr lang="en-IN" dirty="0"/>
              <a:t>boto3 needs credentials → IAM role provides temporary credentials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5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AAD7-0D88-720C-8A15-C6B64DBF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Step 5: Run the pipeline and verify the logs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BAF66-35C1-B2C5-E59A-32551C92D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Run: </a:t>
            </a:r>
          </a:p>
          <a:p>
            <a:pPr marL="0" indent="0">
              <a:buNone/>
            </a:pPr>
            <a:r>
              <a:rPr lang="en-IN" dirty="0"/>
              <a:t>python3 </a:t>
            </a:r>
            <a:r>
              <a:rPr lang="en-IN" dirty="0" err="1"/>
              <a:t>ingest.py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🔹 Go to:</a:t>
            </a:r>
          </a:p>
          <a:p>
            <a:pPr marL="0" indent="0">
              <a:buNone/>
            </a:pPr>
            <a:r>
              <a:rPr lang="en-IN" dirty="0"/>
              <a:t>CloudWatch → Log groups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🔹 Select correct region:</a:t>
            </a:r>
          </a:p>
          <a:p>
            <a:r>
              <a:rPr lang="en-IN" dirty="0"/>
              <a:t>US East (N. Virginia) → us-east-1</a:t>
            </a:r>
          </a:p>
          <a:p>
            <a:r>
              <a:rPr lang="en-IN" b="1" dirty="0"/>
              <a:t>🔹 Find:</a:t>
            </a:r>
          </a:p>
          <a:p>
            <a:pPr marL="0" indent="0">
              <a:buNone/>
            </a:pPr>
            <a:r>
              <a:rPr lang="en-IN" dirty="0" err="1"/>
              <a:t>data_engineering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🔹 Inside:</a:t>
            </a:r>
          </a:p>
          <a:p>
            <a:r>
              <a:rPr lang="en-IN" dirty="0" err="1"/>
              <a:t>pipeline_run</a:t>
            </a:r>
            <a:r>
              <a:rPr lang="en-IN" dirty="0"/>
              <a:t> → logs visible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61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B731-20E5-EE55-251E-8A498333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CloudWatch → Alarm → SNS → Email</a:t>
            </a:r>
            <a:br>
              <a:rPr lang="en-IN" dirty="0"/>
            </a:br>
            <a:r>
              <a:rPr lang="en-IN" sz="1800" dirty="0"/>
              <a:t>Step A: Send logs from EC2 → CloudWatch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7C42E-31F5-E27A-4A25-3FFA4ACE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logging error statement in python script:</a:t>
            </a:r>
            <a:br>
              <a:rPr lang="en-US" dirty="0"/>
            </a:br>
            <a:r>
              <a:rPr lang="en-IN" dirty="0" err="1"/>
              <a:t>logger.error</a:t>
            </a:r>
            <a:r>
              <a:rPr lang="en-IN" dirty="0"/>
              <a:t>("TEST ERROR")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A1E0-9DA9-A7B1-08B3-E8005CC5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🔹 Step 2: Create Metric Filter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A17DE-7A6D-17D4-1713-1E2150B58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Go to: CloudWatch → Log groups → </a:t>
            </a:r>
            <a:r>
              <a:rPr lang="en-IN" dirty="0" err="1"/>
              <a:t>data_engineering_logs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Create metric filter </a:t>
            </a:r>
          </a:p>
          <a:p>
            <a:pPr marL="0" indent="0">
              <a:buNone/>
            </a:pPr>
            <a:r>
              <a:rPr lang="en-IN" dirty="0"/>
              <a:t>Pattern:  %ERROR%</a:t>
            </a:r>
          </a:p>
          <a:p>
            <a:r>
              <a:rPr lang="en-IN" dirty="0"/>
              <a:t>Metric namespace: </a:t>
            </a:r>
            <a:r>
              <a:rPr lang="en-IN" dirty="0" err="1"/>
              <a:t>ingestion_pipeline</a:t>
            </a:r>
            <a:endParaRPr lang="en-IN" dirty="0"/>
          </a:p>
          <a:p>
            <a:r>
              <a:rPr lang="en-IN" dirty="0"/>
              <a:t>Metric name: </a:t>
            </a:r>
            <a:r>
              <a:rPr lang="en-IN" dirty="0" err="1"/>
              <a:t>error_count</a:t>
            </a:r>
            <a:endParaRPr lang="en-IN" dirty="0"/>
          </a:p>
          <a:p>
            <a:r>
              <a:rPr lang="en-IN" dirty="0"/>
              <a:t>Value: 1</a:t>
            </a:r>
          </a:p>
          <a:p>
            <a:pPr marL="0" indent="0">
              <a:buNone/>
            </a:pPr>
            <a:r>
              <a:rPr lang="en-US" b="1" dirty="0"/>
              <a:t>Note:</a:t>
            </a:r>
            <a:br>
              <a:rPr lang="en-US" dirty="0"/>
            </a:br>
            <a:r>
              <a:rPr lang="en-IN" dirty="0"/>
              <a:t>Metric namespace is generated after the ” </a:t>
            </a:r>
            <a:r>
              <a:rPr lang="en-IN" dirty="0" err="1"/>
              <a:t>logger.error</a:t>
            </a:r>
            <a:r>
              <a:rPr lang="en-IN" dirty="0"/>
              <a:t>(“ERROR message/ </a:t>
            </a:r>
            <a:r>
              <a:rPr lang="en-IN"/>
              <a:t>any message”)” </a:t>
            </a:r>
            <a:r>
              <a:rPr lang="en-IN" dirty="0"/>
              <a:t>runs for the first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18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98DA-566F-74A4-34C5-2F4841A7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🔹 Step 3: Create Alarm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565B0-BAD6-2421-9BC1-527FFE89D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 to: CloudWatch → Alarms → Create alarm</a:t>
            </a:r>
          </a:p>
          <a:p>
            <a:r>
              <a:rPr lang="en-IN" dirty="0"/>
              <a:t>Then:</a:t>
            </a:r>
          </a:p>
          <a:p>
            <a:r>
              <a:rPr lang="en-IN" dirty="0"/>
              <a:t>Select metric → </a:t>
            </a:r>
            <a:r>
              <a:rPr lang="en-IN" b="1" dirty="0"/>
              <a:t>Browse</a:t>
            </a:r>
            <a:r>
              <a:rPr lang="en-IN" dirty="0"/>
              <a:t> </a:t>
            </a:r>
          </a:p>
          <a:p>
            <a:r>
              <a:rPr lang="en-IN" dirty="0"/>
              <a:t>Custom Namespaces → </a:t>
            </a:r>
            <a:r>
              <a:rPr lang="en-IN" dirty="0" err="1"/>
              <a:t>ingestion_pipeline</a:t>
            </a:r>
            <a:r>
              <a:rPr lang="en-IN" dirty="0"/>
              <a:t> → </a:t>
            </a:r>
            <a:r>
              <a:rPr lang="en-IN" dirty="0" err="1"/>
              <a:t>error_count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92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0C4A-C478-144D-CE7F-606D0422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🔹 Step 3: Create SNS Topic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A1ED-673B-3F06-1F9F-8EC977EC6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During alarm setup:</a:t>
            </a:r>
            <a:br>
              <a:rPr lang="en-IN" dirty="0"/>
            </a:br>
            <a:r>
              <a:rPr lang="en-IN" dirty="0"/>
              <a:t>Create topic: ingestion-alerts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Add Email Subscription</a:t>
            </a:r>
          </a:p>
          <a:p>
            <a:r>
              <a:rPr lang="en-IN" dirty="0"/>
              <a:t>Protocol → Email </a:t>
            </a:r>
          </a:p>
          <a:p>
            <a:r>
              <a:rPr lang="en-IN" dirty="0"/>
              <a:t>Enter your email </a:t>
            </a:r>
          </a:p>
          <a:p>
            <a:r>
              <a:rPr lang="en-IN" dirty="0"/>
              <a:t>📩 Confirm email (CRITICAL)</a:t>
            </a:r>
          </a:p>
          <a:p>
            <a:pPr marL="0" indent="0">
              <a:buNone/>
            </a:pPr>
            <a:r>
              <a:rPr lang="en-IN" dirty="0"/>
              <a:t># Can be done standalone also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63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EEAF-A0F9-FD00-7106-CBBA83DA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Target</a:t>
            </a:r>
            <a:endParaRPr lang="en-US" dirty="0"/>
          </a:p>
        </p:txBody>
      </p:sp>
      <p:pic>
        <p:nvPicPr>
          <p:cNvPr id="1026" name="Picture 2" descr="Example 1: Queries against an Amazon S3 data lake - Big Data Analytics Options on AWS">
            <a:extLst>
              <a:ext uri="{FF2B5EF4-FFF2-40B4-BE49-F238E27FC236}">
                <a16:creationId xmlns:a16="http://schemas.microsoft.com/office/drawing/2014/main" id="{EFC0F3AE-0F72-AB82-AE89-B590E40CAB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631" y="2780506"/>
            <a:ext cx="55880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311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C586-2DE4-7F7B-075B-EC22342F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S3 Data Lake Creation (Core Storage Layer)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0B41-3FFF-8DDB-2425-167FD016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you did</a:t>
            </a:r>
          </a:p>
          <a:p>
            <a:r>
              <a:rPr lang="en-IN" dirty="0"/>
              <a:t>Created S3 bucket:</a:t>
            </a:r>
            <a:br>
              <a:rPr lang="en-IN" dirty="0"/>
            </a:br>
            <a:r>
              <a:rPr lang="en-IN" dirty="0"/>
              <a:t>👉 analytics-ingested </a:t>
            </a:r>
          </a:p>
          <a:p>
            <a:r>
              <a:rPr lang="en-IN" dirty="0"/>
              <a:t>Designed </a:t>
            </a:r>
            <a:r>
              <a:rPr lang="en-IN" b="1" dirty="0"/>
              <a:t>partitioned storage format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employees/</a:t>
            </a:r>
            <a:br>
              <a:rPr lang="en-IN" dirty="0"/>
            </a:br>
            <a:r>
              <a:rPr lang="en-IN" dirty="0"/>
              <a:t>  </a:t>
            </a:r>
            <a:r>
              <a:rPr lang="en-IN" dirty="0" err="1"/>
              <a:t>src_date</a:t>
            </a:r>
            <a:r>
              <a:rPr lang="en-IN" dirty="0"/>
              <a:t>=2026-04-09/</a:t>
            </a:r>
            <a:br>
              <a:rPr lang="en-IN" dirty="0"/>
            </a:br>
            <a:r>
              <a:rPr lang="en-IN" dirty="0"/>
              <a:t>      </a:t>
            </a:r>
            <a:r>
              <a:rPr lang="en-IN" dirty="0" err="1"/>
              <a:t>file.parquet</a:t>
            </a:r>
            <a:br>
              <a:rPr lang="en-IN" dirty="0"/>
            </a:br>
            <a:r>
              <a:rPr lang="en-IN" dirty="0"/>
              <a:t>  </a:t>
            </a:r>
            <a:r>
              <a:rPr lang="en-IN" dirty="0" err="1"/>
              <a:t>src_date</a:t>
            </a:r>
            <a:r>
              <a:rPr lang="en-IN" dirty="0"/>
              <a:t>=2026-04-08/</a:t>
            </a:r>
            <a:br>
              <a:rPr lang="en-IN" dirty="0"/>
            </a:br>
            <a:r>
              <a:rPr lang="en-IN" dirty="0"/>
              <a:t>      </a:t>
            </a:r>
            <a:r>
              <a:rPr lang="en-IN" dirty="0" err="1"/>
              <a:t>file.parquet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177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8259-B4C3-F272-4305-52BE43FB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600E-2D65-E5C1-501F-C5CB6265B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Why this is important (VERY important concept)</a:t>
            </a:r>
          </a:p>
          <a:p>
            <a:pPr marL="0" indent="0">
              <a:buNone/>
            </a:pPr>
            <a:r>
              <a:rPr lang="en-IN" b="1" dirty="0"/>
              <a:t>        🔹 Partitioning = performance + cost optimization</a:t>
            </a:r>
          </a:p>
          <a:p>
            <a:r>
              <a:rPr lang="en-IN" dirty="0"/>
              <a:t>Without partition:</a:t>
            </a:r>
          </a:p>
          <a:p>
            <a:pPr marL="0" indent="0">
              <a:buNone/>
            </a:pPr>
            <a:r>
              <a:rPr lang="en-IN" dirty="0"/>
              <a:t> SELECT * FROM employees;</a:t>
            </a:r>
          </a:p>
          <a:p>
            <a:r>
              <a:rPr lang="en-IN" dirty="0"/>
              <a:t>👉 scans </a:t>
            </a:r>
            <a:r>
              <a:rPr lang="en-IN" b="1" dirty="0"/>
              <a:t>all data</a:t>
            </a:r>
            <a:endParaRPr lang="en-IN" dirty="0"/>
          </a:p>
          <a:p>
            <a:r>
              <a:rPr lang="en-IN" dirty="0"/>
              <a:t>With partition:</a:t>
            </a:r>
          </a:p>
          <a:p>
            <a:pPr marL="0" indent="0">
              <a:buNone/>
            </a:pPr>
            <a:r>
              <a:rPr lang="en-IN" dirty="0"/>
              <a:t>SELECT * FROM employees WHERE </a:t>
            </a:r>
            <a:r>
              <a:rPr lang="en-IN" dirty="0" err="1"/>
              <a:t>src_date</a:t>
            </a:r>
            <a:r>
              <a:rPr lang="en-IN" dirty="0"/>
              <a:t> = '2026-04-09';</a:t>
            </a:r>
          </a:p>
          <a:p>
            <a:r>
              <a:rPr lang="en-IN" dirty="0"/>
              <a:t>👉 scans </a:t>
            </a:r>
            <a:r>
              <a:rPr lang="en-IN" b="1" dirty="0"/>
              <a:t>only that folder</a:t>
            </a:r>
            <a:endParaRPr lang="en-IN" dirty="0"/>
          </a:p>
          <a:p>
            <a:r>
              <a:rPr lang="en-IN" b="1" dirty="0"/>
              <a:t>Key takeaway</a:t>
            </a:r>
          </a:p>
          <a:p>
            <a:r>
              <a:rPr lang="en-IN" dirty="0"/>
              <a:t>S3 is not just storage → it is your data lake</a:t>
            </a:r>
            <a:br>
              <a:rPr lang="en-IN" dirty="0"/>
            </a:br>
            <a:r>
              <a:rPr lang="en-IN" dirty="0"/>
              <a:t>Folder structure = database partitioning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44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2DC2-A358-92C3-49C4-2FF2A80B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Glue Crawler (Metadata Layer)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1532-0939-5176-DAB3-CBCC6D9F0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1:</a:t>
            </a:r>
          </a:p>
          <a:p>
            <a:pPr marL="0" indent="0">
              <a:buNone/>
            </a:pPr>
            <a:r>
              <a:rPr lang="en-IN" dirty="0"/>
              <a:t>Create an IAM role with below policies</a:t>
            </a:r>
          </a:p>
          <a:p>
            <a:r>
              <a:rPr lang="en-IN" dirty="0" err="1"/>
              <a:t>AWSGlueServiceRole</a:t>
            </a:r>
            <a:r>
              <a:rPr lang="en-IN" dirty="0"/>
              <a:t> and </a:t>
            </a:r>
            <a:r>
              <a:rPr lang="en-IN" dirty="0">
                <a:hlinkClick r:id="rId2"/>
              </a:rPr>
              <a:t>AmazonS3ReadOnlyAccess</a:t>
            </a:r>
            <a:endParaRPr lang="en-IN" dirty="0"/>
          </a:p>
          <a:p>
            <a:r>
              <a:rPr lang="en-IN" dirty="0"/>
              <a:t>Permissions: </a:t>
            </a:r>
          </a:p>
          <a:p>
            <a:pPr lvl="1"/>
            <a:r>
              <a:rPr lang="en-IN" dirty="0"/>
              <a:t>Read S3 </a:t>
            </a:r>
          </a:p>
          <a:p>
            <a:pPr lvl="1"/>
            <a:r>
              <a:rPr lang="en-IN" dirty="0"/>
              <a:t>Write metadata</a:t>
            </a:r>
          </a:p>
          <a:p>
            <a:pPr marL="0" indent="0">
              <a:buNone/>
            </a:pPr>
            <a:r>
              <a:rPr lang="en-IN" b="1" dirty="0"/>
              <a:t>Step 2: </a:t>
            </a:r>
          </a:p>
          <a:p>
            <a:pPr marL="0" indent="0">
              <a:buNone/>
            </a:pPr>
            <a:r>
              <a:rPr lang="en-IN" dirty="0"/>
              <a:t>Create a glue crawler with the role created.</a:t>
            </a:r>
          </a:p>
        </p:txBody>
      </p:sp>
    </p:spTree>
    <p:extLst>
      <p:ext uri="{BB962C8B-B14F-4D97-AF65-F5344CB8AC3E}">
        <p14:creationId xmlns:p14="http://schemas.microsoft.com/office/powerpoint/2010/main" val="3960498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0EAC-1D83-0D74-DE8B-FC9F0E32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FDF1-0CA2-2F46-A176-CFC6683F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3:</a:t>
            </a:r>
          </a:p>
          <a:p>
            <a:pPr marL="0" indent="0">
              <a:buNone/>
            </a:pPr>
            <a:r>
              <a:rPr lang="en-IN" dirty="0"/>
              <a:t>✔ Choose Data source</a:t>
            </a:r>
          </a:p>
          <a:p>
            <a:r>
              <a:rPr lang="en-IN" dirty="0"/>
              <a:t>S3 path → s3://analytics-ingested/employees/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4:</a:t>
            </a:r>
          </a:p>
          <a:p>
            <a:pPr marL="0" indent="0">
              <a:buNone/>
            </a:pPr>
            <a:r>
              <a:rPr lang="en-US" dirty="0"/>
              <a:t>Run the glue crawler manually.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IN" dirty="0"/>
              <a:t>Employees table is created automatically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49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7890-E825-5A73-1559-0F6AC508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crawler actually does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7DBC-1645-D8DC-A0D7-E520DB8A3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When you run it:</a:t>
            </a:r>
          </a:p>
          <a:p>
            <a:r>
              <a:rPr lang="en-IN" dirty="0"/>
              <a:t>Reads S3 files </a:t>
            </a:r>
          </a:p>
          <a:p>
            <a:r>
              <a:rPr lang="en-IN" dirty="0"/>
              <a:t>Detects: </a:t>
            </a:r>
          </a:p>
          <a:p>
            <a:pPr lvl="1"/>
            <a:r>
              <a:rPr lang="en-IN" dirty="0"/>
              <a:t>File format → Parquet </a:t>
            </a:r>
          </a:p>
          <a:p>
            <a:pPr lvl="1"/>
            <a:r>
              <a:rPr lang="en-IN" dirty="0"/>
              <a:t>Schema → id, name, salary </a:t>
            </a:r>
          </a:p>
          <a:p>
            <a:r>
              <a:rPr lang="en-IN" dirty="0"/>
              <a:t>Detects partition: </a:t>
            </a:r>
          </a:p>
          <a:p>
            <a:r>
              <a:rPr lang="en-IN" dirty="0" err="1"/>
              <a:t>src_date</a:t>
            </a:r>
            <a:r>
              <a:rPr lang="en-IN" dirty="0"/>
              <a:t>=2026-04-09</a:t>
            </a:r>
          </a:p>
          <a:p>
            <a:r>
              <a:rPr lang="en-IN" dirty="0"/>
              <a:t>Creates: </a:t>
            </a:r>
          </a:p>
          <a:p>
            <a:pPr lvl="1"/>
            <a:r>
              <a:rPr lang="en-IN" dirty="0"/>
              <a:t>Table </a:t>
            </a:r>
          </a:p>
          <a:p>
            <a:pPr lvl="1"/>
            <a:r>
              <a:rPr lang="en-IN" dirty="0"/>
              <a:t>Partition metadata</a:t>
            </a:r>
          </a:p>
          <a:p>
            <a:r>
              <a:rPr lang="en-IN" b="1" dirty="0"/>
              <a:t>🧠 Important concept</a:t>
            </a:r>
          </a:p>
          <a:p>
            <a:r>
              <a:rPr lang="en-IN" dirty="0"/>
              <a:t>Glue DOES NOT move data</a:t>
            </a:r>
            <a:br>
              <a:rPr lang="en-IN" dirty="0"/>
            </a:br>
            <a:r>
              <a:rPr lang="en-IN" dirty="0"/>
              <a:t>Glue only creates metadata (like schema registry)</a:t>
            </a:r>
          </a:p>
          <a:p>
            <a:pPr marL="228600" lvl="1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69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3381E-E861-CD72-0CF7-846B7F15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Athena Query Layer (SQL on S3)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5D5EC-0A81-1A0D-2084-7FC1B53E6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 happens internally</a:t>
            </a:r>
          </a:p>
          <a:p>
            <a:pPr marL="0" indent="0">
              <a:buNone/>
            </a:pPr>
            <a:r>
              <a:rPr lang="en-IN" b="1" dirty="0"/>
              <a:t>Athena:</a:t>
            </a:r>
          </a:p>
          <a:p>
            <a:r>
              <a:rPr lang="en-IN" dirty="0"/>
              <a:t>Reads schema from Glue </a:t>
            </a:r>
          </a:p>
          <a:p>
            <a:r>
              <a:rPr lang="en-IN" dirty="0"/>
              <a:t>Reads files from S3 </a:t>
            </a:r>
          </a:p>
          <a:p>
            <a:r>
              <a:rPr lang="en-IN" dirty="0"/>
              <a:t>Executes query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Result we see</a:t>
            </a:r>
          </a:p>
          <a:p>
            <a:r>
              <a:rPr lang="en-IN" dirty="0"/>
              <a:t>Data displayed correctly </a:t>
            </a:r>
          </a:p>
          <a:p>
            <a:r>
              <a:rPr lang="en-IN" dirty="0"/>
              <a:t>Partition column visible (</a:t>
            </a:r>
            <a:r>
              <a:rPr lang="en-IN" dirty="0" err="1"/>
              <a:t>src_date</a:t>
            </a:r>
            <a:r>
              <a:rPr lang="en-IN" dirty="0"/>
              <a:t>)</a:t>
            </a:r>
          </a:p>
          <a:p>
            <a:r>
              <a:rPr lang="en-IN" b="1" dirty="0"/>
              <a:t>🧠 Key concept</a:t>
            </a:r>
          </a:p>
          <a:p>
            <a:r>
              <a:rPr lang="en-IN" dirty="0"/>
              <a:t>Athena = serverless SQL engine on S3</a:t>
            </a:r>
            <a:br>
              <a:rPr lang="en-IN" dirty="0"/>
            </a:br>
            <a:r>
              <a:rPr lang="en-IN" dirty="0"/>
              <a:t>You pay per data scanned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28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6EA3-F9FF-6987-2DEF-48DAC15C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Automation (Event-driven orchestration)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E34F-0FF6-9795-C933-8C401A26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Sample lambda function: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IN" dirty="0"/>
              <a:t>import boto3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glue = boto3.client('glue')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 </a:t>
            </a:r>
            <a:r>
              <a:rPr lang="en-IN" dirty="0" err="1"/>
              <a:t>lambda_handler</a:t>
            </a:r>
            <a:r>
              <a:rPr lang="en-IN" dirty="0"/>
              <a:t>(event, context):</a:t>
            </a:r>
            <a:br>
              <a:rPr lang="en-IN" dirty="0"/>
            </a:br>
            <a:r>
              <a:rPr lang="en-IN" dirty="0"/>
              <a:t>      </a:t>
            </a:r>
            <a:r>
              <a:rPr lang="en-IN" dirty="0" err="1"/>
              <a:t>glue.start_crawler</a:t>
            </a:r>
            <a:r>
              <a:rPr lang="en-IN" dirty="0"/>
              <a:t>(Name="s3-processed-crawler")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955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2AA9-09C2-3384-3DA5-44D7A02A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 the glue crawler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F589-5FAA-B623-D182-A515CDB7E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Trigger configuration – </a:t>
            </a:r>
            <a:r>
              <a:rPr lang="en-IN" dirty="0"/>
              <a:t>Creates a trigger, so that whenever an object is put in</a:t>
            </a:r>
            <a:r>
              <a:rPr lang="en-IN" b="1" dirty="0"/>
              <a:t> “</a:t>
            </a:r>
            <a:r>
              <a:rPr lang="en-IN" dirty="0"/>
              <a:t>analytics-ingested</a:t>
            </a:r>
            <a:r>
              <a:rPr lang="en-IN" b="1" dirty="0"/>
              <a:t>/</a:t>
            </a:r>
            <a:r>
              <a:rPr lang="en-IN" dirty="0"/>
              <a:t>employees/*.parquet”, the lambda function will be triggered,</a:t>
            </a:r>
            <a:endParaRPr lang="en-IN" b="1" dirty="0"/>
          </a:p>
          <a:p>
            <a:r>
              <a:rPr lang="en-IN" dirty="0"/>
              <a:t>S3 → Lambda:</a:t>
            </a:r>
          </a:p>
          <a:p>
            <a:pPr lvl="1"/>
            <a:r>
              <a:rPr lang="en-IN" dirty="0"/>
              <a:t>Bucket: analytics-ingested </a:t>
            </a:r>
          </a:p>
          <a:p>
            <a:pPr lvl="1"/>
            <a:r>
              <a:rPr lang="en-IN" dirty="0"/>
              <a:t>Event: PUT </a:t>
            </a:r>
          </a:p>
          <a:p>
            <a:pPr lvl="1"/>
            <a:r>
              <a:rPr lang="en-IN" dirty="0"/>
              <a:t>Prefix: employees/ </a:t>
            </a:r>
          </a:p>
          <a:p>
            <a:pPr lvl="1"/>
            <a:r>
              <a:rPr lang="en-IN" dirty="0"/>
              <a:t>Suffix: .parquet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018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819A-2DA2-0F0A-3E6C-7A8E6DB1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C71A4-D747-5068-0D14-7EF6FE9A1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Flow</a:t>
            </a:r>
          </a:p>
          <a:p>
            <a:r>
              <a:rPr lang="en-IN" dirty="0"/>
              <a:t>New parquet file uploaded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S3 event generated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Lambda triggered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Glue crawler started</a:t>
            </a:r>
          </a:p>
          <a:p>
            <a:r>
              <a:rPr lang="en-IN" b="1" dirty="0"/>
              <a:t>🧠 Key concept</a:t>
            </a:r>
          </a:p>
          <a:p>
            <a:r>
              <a:rPr lang="en-IN" dirty="0"/>
              <a:t>Lambda = works as a connection between services (event-driven compute)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46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D394-8B7D-D5A0-B89E-18594DD5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Automated Flow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B4714-DB9E-764D-8882-F37B5DD37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Full pipeline now:</a:t>
            </a:r>
          </a:p>
          <a:p>
            <a:r>
              <a:rPr lang="en-IN" dirty="0"/>
              <a:t>SFTP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EC2 (Python job)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S3 (partitioned parquet)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S3 event trigger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Lambda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Glue crawler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Glue </a:t>
            </a:r>
            <a:r>
              <a:rPr lang="en-IN" dirty="0" err="1"/>
              <a:t>catalog</a:t>
            </a:r>
            <a:r>
              <a:rPr lang="en-IN" dirty="0"/>
              <a:t> updated</a:t>
            </a:r>
            <a:br>
              <a:rPr lang="en-IN" dirty="0"/>
            </a:br>
            <a:r>
              <a:rPr lang="en-IN" dirty="0"/>
              <a:t>  ↓</a:t>
            </a:r>
            <a:br>
              <a:rPr lang="en-IN" dirty="0"/>
            </a:br>
            <a:r>
              <a:rPr lang="en-IN" dirty="0"/>
              <a:t>Athena ready to query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201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48BE-E207-580B-558A-EE9856B2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8C80-1577-2ECB-B828-5293B2413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Multiple crawler runs</a:t>
            </a:r>
          </a:p>
          <a:p>
            <a:pPr lvl="1"/>
            <a:r>
              <a:rPr lang="en-IN" dirty="0"/>
              <a:t>Every file triggers Lambda → crawler </a:t>
            </a:r>
          </a:p>
          <a:p>
            <a:pPr lvl="1"/>
            <a:r>
              <a:rPr lang="en-IN" dirty="0"/>
              <a:t>Inefficient (but okay for now)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 steps:</a:t>
            </a:r>
          </a:p>
          <a:p>
            <a:pPr marL="0" indent="0">
              <a:buNone/>
            </a:pPr>
            <a:r>
              <a:rPr lang="en-US" dirty="0"/>
              <a:t>1. Diff between </a:t>
            </a:r>
          </a:p>
          <a:p>
            <a:pPr marL="228600" lvl="1" indent="0">
              <a:buNone/>
            </a:pPr>
            <a:r>
              <a:rPr lang="en-US" dirty="0"/>
              <a:t>Run only the Glue –partition adder instead of glue crawler vs </a:t>
            </a:r>
            <a:r>
              <a:rPr lang="en-IN" dirty="0"/>
              <a:t>Remove crawler → use partition projection (advanced)?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Run glue crawler only after the batch job(multiple files) is completed</a:t>
            </a:r>
          </a:p>
        </p:txBody>
      </p:sp>
    </p:spTree>
    <p:extLst>
      <p:ext uri="{BB962C8B-B14F-4D97-AF65-F5344CB8AC3E}">
        <p14:creationId xmlns:p14="http://schemas.microsoft.com/office/powerpoint/2010/main" val="406980739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7591</TotalTime>
  <Words>1853</Words>
  <Application>Microsoft Macintosh PowerPoint</Application>
  <PresentationFormat>Widescreen</PresentationFormat>
  <Paragraphs>247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Neue Haas Grotesk Text Pro</vt:lpstr>
      <vt:lpstr>Helena</vt:lpstr>
      <vt:lpstr>Data Engineering using AWS</vt:lpstr>
      <vt:lpstr>Getting the Infra ready</vt:lpstr>
      <vt:lpstr>🧱 1️⃣ Local → EC2-1 (SFTP server) </vt:lpstr>
      <vt:lpstr>🧱 2️⃣ Local → EC2-2 (Ingestion server) </vt:lpstr>
      <vt:lpstr>🧱 3️⃣ Copy key.pem → EC2-2 (VERY IMPORTANT)</vt:lpstr>
      <vt:lpstr>🧱 4️⃣ Set permissions on EC2-2</vt:lpstr>
      <vt:lpstr>🧱 5️⃣ EC2-2 → EC2-1 (SSH test)</vt:lpstr>
      <vt:lpstr>🧠 Best practice (recommended)</vt:lpstr>
      <vt:lpstr>🏗️ Final connectivity</vt:lpstr>
      <vt:lpstr>Prepare SFTP data (EC2-1)</vt:lpstr>
      <vt:lpstr>Setup MySQL (EC2-2)</vt:lpstr>
      <vt:lpstr>🧱 Install Python libs (EC2-2)</vt:lpstr>
      <vt:lpstr>Create ingestion script (EC2-2)</vt:lpstr>
      <vt:lpstr>Run pipeline</vt:lpstr>
      <vt:lpstr>Verify data: Very Important Step in Data Engineering</vt:lpstr>
      <vt:lpstr>Querying through MySQL tool(Mac)</vt:lpstr>
      <vt:lpstr>🧱 STEP-BY-STEP: CloudWatch Logging Integration</vt:lpstr>
      <vt:lpstr>✅ Step 1: Install required libraries (EC2)</vt:lpstr>
      <vt:lpstr>✅ Step 2: Add logging in your Python script</vt:lpstr>
      <vt:lpstr>✅ Step 3: Create IAM Role (CRITICAL)</vt:lpstr>
      <vt:lpstr>✅ Step 4: Attach IAM Role to EC2</vt:lpstr>
      <vt:lpstr>✅ Step 5: Run the pipeline and verify the logs</vt:lpstr>
      <vt:lpstr>CloudWatch → Alarm → SNS → Email Step A: Send logs from EC2 → CloudWatch </vt:lpstr>
      <vt:lpstr>🔹 Step 2: Create Metric Filter</vt:lpstr>
      <vt:lpstr>🔹 Step 3: Create Alarm</vt:lpstr>
      <vt:lpstr>🔹 Step 3: Create SNS Topic  </vt:lpstr>
      <vt:lpstr>Final Target</vt:lpstr>
      <vt:lpstr>S3 Data Lake Creation (Core Storage Layer)</vt:lpstr>
      <vt:lpstr>PowerPoint Presentation</vt:lpstr>
      <vt:lpstr>Glue Crawler (Metadata Layer)</vt:lpstr>
      <vt:lpstr>PowerPoint Presentation</vt:lpstr>
      <vt:lpstr>What crawler actually does</vt:lpstr>
      <vt:lpstr>Athena Query Layer (SQL on S3)</vt:lpstr>
      <vt:lpstr>Lambda Automation (Event-driven orchestration)</vt:lpstr>
      <vt:lpstr>Automate the glue crawler call</vt:lpstr>
      <vt:lpstr>PowerPoint Presentation</vt:lpstr>
      <vt:lpstr>End-to-End Automated Flow 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sabyasachi.some</dc:creator>
  <cp:lastModifiedBy>sabyasachi.some</cp:lastModifiedBy>
  <cp:revision>87</cp:revision>
  <dcterms:created xsi:type="dcterms:W3CDTF">2026-03-31T11:03:38Z</dcterms:created>
  <dcterms:modified xsi:type="dcterms:W3CDTF">2026-04-12T18:08:32Z</dcterms:modified>
</cp:coreProperties>
</file>